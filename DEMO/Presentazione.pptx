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8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9.jpeg" ContentType="image/jpe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8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</p:sldMasterIdLst>
  <p:sldIdLst>
    <p:sldId id="256" r:id="rId26"/>
    <p:sldId id="257" r:id="rId27"/>
    <p:sldId id="258" r:id="rId28"/>
    <p:sldId id="259" r:id="rId29"/>
    <p:sldId id="260" r:id="rId30"/>
    <p:sldId id="261" r:id="rId31"/>
    <p:sldId id="262" r:id="rId32"/>
    <p:sldId id="263" r:id="rId33"/>
    <p:sldId id="264" r:id="rId34"/>
    <p:sldId id="265" r:id="rId3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" Target="slides/slide1.xml"/><Relationship Id="rId27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Relationship Id="rId33" Type="http://schemas.openxmlformats.org/officeDocument/2006/relationships/slide" Target="slides/slide8.xml"/><Relationship Id="rId34" Type="http://schemas.openxmlformats.org/officeDocument/2006/relationships/slide" Target="slides/slide9.xml"/><Relationship Id="rId35" Type="http://schemas.openxmlformats.org/officeDocument/2006/relationships/slide" Target="slides/slide10.xml"/><Relationship Id="rId3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D8860C3-D301-4BEC-8142-C677390C83F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22E7F92-3FC2-4A04-9523-BDCE737C349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1C4E3583-3E00-452F-B887-E67A5C8ED0D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FE83168-52FD-4CF3-81BA-24861D8AFB1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E1C52540-AE10-43A8-A471-C3560E80590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9EDE465E-F321-4252-97A0-14243BEDE4D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B08DF587-5F21-4FB5-BC73-A1799614109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5126AFE4-53C6-44D5-B671-1DF8C33CDDC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1F3E7544-302B-4756-8800-DF4D32F64F2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17FA4FB4-DD43-48AF-8BED-61E8A854054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622724B2-342D-4B8D-B732-6D725F80699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6372CEB8-726B-4D2F-8808-6A871EC9DE3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FD5543FE-31BA-43B9-89CD-6DC37E3F50E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3EA894FF-6917-4C75-A614-0A1063258C3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1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46FAA134-1F27-4082-8C94-72F0D0E1259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A7731C21-5242-49B5-AF71-4345EBBC552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6E3BE9A8-ABA7-4CC6-B2CA-306398DE91D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1F8D14DA-B6BB-4785-ACF8-6D282B4C19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3B8E23D8-F68D-4A87-81C6-99B2B3B24F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D1642DA0-F4BB-4200-8F12-802DD3AD281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12DD5341-8522-4FA0-B2D5-6FD12D1AAE4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B92AE4BF-2286-4D23-8A8E-2B7AB1B3B54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6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8"/>
          </p:nvPr>
        </p:nvSpPr>
        <p:spPr/>
        <p:txBody>
          <a:bodyPr/>
          <a:p>
            <a:fld id="{FA8470F6-675C-4029-B693-D43B98F3651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7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71"/>
          </p:nvPr>
        </p:nvSpPr>
        <p:spPr/>
        <p:txBody>
          <a:bodyPr/>
          <a:p>
            <a:fld id="{7D961F1F-FCD5-41E1-BF48-354B92622DC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7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000" cy="20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225480" y="1825560"/>
            <a:ext cx="5130000" cy="20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838080" y="4097160"/>
            <a:ext cx="10512720" cy="20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rgbClr val="787878"/>
                </a:solidFill>
                <a:uFillTx/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8ED569D-095C-4C8D-B4B8-F0D576D90FF3}" type="slidenum">
              <a:rPr b="0" lang="de-DE" sz="1200" strike="noStrike" u="none">
                <a:solidFill>
                  <a:srgbClr val="787878"/>
                </a:solidFill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" name="PlaceHolder 7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2720" cy="20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838080" y="4097160"/>
            <a:ext cx="10512720" cy="20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rgbClr val="787878"/>
                </a:solidFill>
                <a:uFillTx/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12528CD-7872-42E4-9793-67FBE4850DEF}" type="slidenum">
              <a:rPr b="0" lang="de-DE" sz="1200" strike="noStrike" u="none">
                <a:solidFill>
                  <a:srgbClr val="787878"/>
                </a:solidFill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000" cy="20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6225480" y="1825560"/>
            <a:ext cx="5130000" cy="20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838080" y="4097160"/>
            <a:ext cx="5130000" cy="20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body"/>
          </p:nvPr>
        </p:nvSpPr>
        <p:spPr>
          <a:xfrm>
            <a:off x="6225480" y="4097160"/>
            <a:ext cx="5130000" cy="20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PlaceHolder 6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6" name="PlaceHolder 7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rgbClr val="787878"/>
                </a:solidFill>
                <a:uFillTx/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5C8DC8F-2A93-4608-8693-526C15ED7483}" type="slidenum">
              <a:rPr b="0" lang="de-DE" sz="1200" strike="noStrike" u="none">
                <a:solidFill>
                  <a:srgbClr val="787878"/>
                </a:solidFill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7" name="PlaceHolder 8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4720" cy="20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392720" y="1825560"/>
            <a:ext cx="3384720" cy="20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7947360" y="1825560"/>
            <a:ext cx="3384720" cy="20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838080" y="4097160"/>
            <a:ext cx="3384720" cy="20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body"/>
          </p:nvPr>
        </p:nvSpPr>
        <p:spPr>
          <a:xfrm>
            <a:off x="4392720" y="4097160"/>
            <a:ext cx="3384720" cy="20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body"/>
          </p:nvPr>
        </p:nvSpPr>
        <p:spPr>
          <a:xfrm>
            <a:off x="7947360" y="4097160"/>
            <a:ext cx="3384720" cy="20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1" name="PlaceHolder 9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rgbClr val="787878"/>
                </a:solidFill>
                <a:uFillTx/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3EC5444-D9B2-4E66-88CE-5D9D1BC720BE}" type="slidenum">
              <a:rPr b="0" lang="de-DE" sz="1200" strike="noStrike" u="none">
                <a:solidFill>
                  <a:srgbClr val="787878"/>
                </a:solidFill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2" name="PlaceHolder 10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rgbClr val="787878"/>
                </a:solidFill>
                <a:uFillTx/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243662E-5022-4738-8DCF-411C1F44616A}" type="slidenum">
              <a:rPr b="0" lang="de-DE" sz="1200" strike="noStrike" u="none">
                <a:solidFill>
                  <a:srgbClr val="787878"/>
                </a:solidFill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rgbClr val="787878"/>
                </a:solidFill>
                <a:uFillTx/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5F70CFC-E204-40D7-9BA5-BDD843DED7BF}" type="slidenum">
              <a:rPr b="0" lang="de-DE" sz="1200" strike="noStrike" u="none">
                <a:solidFill>
                  <a:srgbClr val="787878"/>
                </a:solidFill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2720" cy="434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rgbClr val="787878"/>
                </a:solidFill>
                <a:uFillTx/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786737A-54A2-4C5D-ADD1-966A7578F768}" type="slidenum">
              <a:rPr b="0" lang="de-DE" sz="1200" strike="noStrike" u="none">
                <a:solidFill>
                  <a:srgbClr val="787878"/>
                </a:solidFill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000" cy="434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6225480" y="1825560"/>
            <a:ext cx="5130000" cy="434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rgbClr val="787878"/>
                </a:solidFill>
                <a:uFillTx/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8119F9B-B70A-4F35-862F-830681559468}" type="slidenum">
              <a:rPr b="0" lang="de-DE" sz="1200" strike="noStrike" u="none">
                <a:solidFill>
                  <a:srgbClr val="787878"/>
                </a:solidFill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rgbClr val="787878"/>
                </a:solidFill>
                <a:uFillTx/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840C2F9-DB88-4CDF-8179-68FFF6D2C110}" type="slidenum">
              <a:rPr b="0" lang="de-DE" sz="1200" strike="noStrike" u="none">
                <a:solidFill>
                  <a:srgbClr val="787878"/>
                </a:solidFill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rgbClr val="787878"/>
                </a:solidFill>
                <a:uFillTx/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189DF88-5177-436E-AB94-9F354B46F7FD}" type="slidenum">
              <a:rPr b="0" lang="de-DE" sz="1200" strike="noStrike" u="none">
                <a:solidFill>
                  <a:srgbClr val="787878"/>
                </a:solidFill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000" cy="20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6225480" y="1825560"/>
            <a:ext cx="5130000" cy="434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body"/>
          </p:nvPr>
        </p:nvSpPr>
        <p:spPr>
          <a:xfrm>
            <a:off x="838080" y="4097160"/>
            <a:ext cx="5130000" cy="20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rgbClr val="787878"/>
                </a:solidFill>
                <a:uFillTx/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3D0A0EB-8014-497C-837C-1E521F225FF6}" type="slidenum">
              <a:rPr b="0" lang="de-DE" sz="1200" strike="noStrike" u="none">
                <a:solidFill>
                  <a:srgbClr val="787878"/>
                </a:solidFill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83" name="PlaceHolder 7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000" cy="434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6225480" y="1825560"/>
            <a:ext cx="5130000" cy="20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6225480" y="4097160"/>
            <a:ext cx="5130000" cy="20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3" name="PlaceHolder 6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rgbClr val="787878"/>
                </a:solidFill>
                <a:uFillTx/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CB0CD81-F983-424B-86F6-DBEEEEBCB9F0}" type="slidenum">
              <a:rPr b="0" lang="de-DE" sz="1200" strike="noStrike" u="none">
                <a:solidFill>
                  <a:srgbClr val="787878"/>
                </a:solidFill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94" name="PlaceHolder 7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000" cy="20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6225480" y="1825560"/>
            <a:ext cx="5130000" cy="20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body"/>
          </p:nvPr>
        </p:nvSpPr>
        <p:spPr>
          <a:xfrm>
            <a:off x="838080" y="4097160"/>
            <a:ext cx="10512720" cy="20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" name="PlaceHolder 5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4" name="PlaceHolder 6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rgbClr val="787878"/>
                </a:solidFill>
                <a:uFillTx/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7D14977-53FA-401E-8463-42FB4ADB6138}" type="slidenum">
              <a:rPr b="0" lang="de-DE" sz="1200" strike="noStrike" u="none">
                <a:solidFill>
                  <a:srgbClr val="787878"/>
                </a:solidFill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5" name="PlaceHolder 7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2720" cy="20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838080" y="4097160"/>
            <a:ext cx="10512720" cy="20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rgbClr val="787878"/>
                </a:solidFill>
                <a:uFillTx/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AE8E342-F55A-49CE-9F1A-0C6BFDDF2321}" type="slidenum">
              <a:rPr b="0" lang="de-DE" sz="1200" strike="noStrike" u="none">
                <a:solidFill>
                  <a:srgbClr val="787878"/>
                </a:solidFill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000" cy="20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body"/>
          </p:nvPr>
        </p:nvSpPr>
        <p:spPr>
          <a:xfrm>
            <a:off x="6225480" y="1825560"/>
            <a:ext cx="5130000" cy="20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 type="body"/>
          </p:nvPr>
        </p:nvSpPr>
        <p:spPr>
          <a:xfrm>
            <a:off x="838080" y="4097160"/>
            <a:ext cx="5130000" cy="20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3" name="PlaceHolder 5"/>
          <p:cNvSpPr>
            <a:spLocks noGrp="1"/>
          </p:cNvSpPr>
          <p:nvPr>
            <p:ph type="body"/>
          </p:nvPr>
        </p:nvSpPr>
        <p:spPr>
          <a:xfrm>
            <a:off x="6225480" y="4097160"/>
            <a:ext cx="5130000" cy="20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PlaceHolder 6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5" name="PlaceHolder 7"/>
          <p:cNvSpPr>
            <a:spLocks noGrp="1"/>
          </p:cNvSpPr>
          <p:nvPr>
            <p:ph type="sldNum" idx="44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rgbClr val="787878"/>
                </a:solidFill>
                <a:uFillTx/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B1AD1E0-EC49-43BA-9EAF-94C3A1DE423D}" type="slidenum">
              <a:rPr b="0" lang="de-DE" sz="1200" strike="noStrike" u="none">
                <a:solidFill>
                  <a:srgbClr val="787878"/>
                </a:solidFill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26" name="PlaceHolder 8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4720" cy="20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4392720" y="1825560"/>
            <a:ext cx="3384720" cy="20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body"/>
          </p:nvPr>
        </p:nvSpPr>
        <p:spPr>
          <a:xfrm>
            <a:off x="7947360" y="1825560"/>
            <a:ext cx="3384720" cy="20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6" name="PlaceHolder 5"/>
          <p:cNvSpPr>
            <a:spLocks noGrp="1"/>
          </p:cNvSpPr>
          <p:nvPr>
            <p:ph type="body"/>
          </p:nvPr>
        </p:nvSpPr>
        <p:spPr>
          <a:xfrm>
            <a:off x="838080" y="4097160"/>
            <a:ext cx="3384720" cy="20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7" name="PlaceHolder 6"/>
          <p:cNvSpPr>
            <a:spLocks noGrp="1"/>
          </p:cNvSpPr>
          <p:nvPr>
            <p:ph type="body"/>
          </p:nvPr>
        </p:nvSpPr>
        <p:spPr>
          <a:xfrm>
            <a:off x="4392720" y="4097160"/>
            <a:ext cx="3384720" cy="20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8" name="PlaceHolder 7"/>
          <p:cNvSpPr>
            <a:spLocks noGrp="1"/>
          </p:cNvSpPr>
          <p:nvPr>
            <p:ph type="body"/>
          </p:nvPr>
        </p:nvSpPr>
        <p:spPr>
          <a:xfrm>
            <a:off x="7947360" y="4097160"/>
            <a:ext cx="3384720" cy="20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9" name="PlaceHolder 8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0" name="PlaceHolder 9"/>
          <p:cNvSpPr>
            <a:spLocks noGrp="1"/>
          </p:cNvSpPr>
          <p:nvPr>
            <p:ph type="sldNum" idx="47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rgbClr val="787878"/>
                </a:solidFill>
                <a:uFillTx/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5BF09DF-1CD1-44C3-9A46-C2AB554D2367}" type="slidenum">
              <a:rPr b="0" lang="de-DE" sz="1200" strike="noStrike" u="none">
                <a:solidFill>
                  <a:srgbClr val="787878"/>
                </a:solidFill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1" name="PlaceHolder 10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sldNum" idx="50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rgbClr val="787878"/>
                </a:solidFill>
                <a:uFillTx/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B1663E0-2680-4493-9500-92B4A7268539}" type="slidenum">
              <a:rPr b="0" lang="de-DE" sz="1200" strike="noStrike" u="none">
                <a:solidFill>
                  <a:srgbClr val="787878"/>
                </a:solidFill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 idx="53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rgbClr val="787878"/>
                </a:solidFill>
                <a:uFillTx/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89804B4-6306-4549-B9EA-178563491CB1}" type="slidenum">
              <a:rPr b="0" lang="de-DE" sz="1200" strike="noStrike" u="none">
                <a:solidFill>
                  <a:srgbClr val="787878"/>
                </a:solidFill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2720" cy="434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ftr" idx="55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6" name="PlaceHolder 4"/>
          <p:cNvSpPr>
            <a:spLocks noGrp="1"/>
          </p:cNvSpPr>
          <p:nvPr>
            <p:ph type="sldNum" idx="56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rgbClr val="787878"/>
                </a:solidFill>
                <a:uFillTx/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793145B-2A1B-4EAC-904A-881A72D5BEA1}" type="slidenum">
              <a:rPr b="0" lang="de-DE" sz="1200" strike="noStrike" u="none">
                <a:solidFill>
                  <a:srgbClr val="787878"/>
                </a:solidFill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7" name="PlaceHolder 5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000" cy="434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body"/>
          </p:nvPr>
        </p:nvSpPr>
        <p:spPr>
          <a:xfrm>
            <a:off x="6225480" y="1825560"/>
            <a:ext cx="5130000" cy="434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 type="ftr" idx="58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4" name="PlaceHolder 5"/>
          <p:cNvSpPr>
            <a:spLocks noGrp="1"/>
          </p:cNvSpPr>
          <p:nvPr>
            <p:ph type="sldNum" idx="59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rgbClr val="787878"/>
                </a:solidFill>
                <a:uFillTx/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F791BAF-01B5-4161-AC00-5ACE1F620D07}" type="slidenum">
              <a:rPr b="0" lang="de-DE" sz="1200" strike="noStrike" u="none">
                <a:solidFill>
                  <a:srgbClr val="787878"/>
                </a:solidFill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5" name="PlaceHolder 6"/>
          <p:cNvSpPr>
            <a:spLocks noGrp="1"/>
          </p:cNvSpPr>
          <p:nvPr>
            <p:ph type="dt" idx="60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ftr" idx="61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62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rgbClr val="787878"/>
                </a:solidFill>
                <a:uFillTx/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CA658BC-CF2D-42B1-80C7-33FD62D4A2FF}" type="slidenum">
              <a:rPr b="0" lang="de-DE" sz="1200" strike="noStrike" u="none">
                <a:solidFill>
                  <a:srgbClr val="787878"/>
                </a:solidFill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 type="dt" idx="63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ftr" idx="64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 type="sldNum" idx="65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rgbClr val="787878"/>
                </a:solidFill>
                <a:uFillTx/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4BBAC58-6EE9-4E4D-870F-8A8E38335209}" type="slidenum">
              <a:rPr b="0" lang="de-DE" sz="1200" strike="noStrike" u="none">
                <a:solidFill>
                  <a:srgbClr val="787878"/>
                </a:solidFill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dt" idx="66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000" cy="20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body"/>
          </p:nvPr>
        </p:nvSpPr>
        <p:spPr>
          <a:xfrm>
            <a:off x="6225480" y="1825560"/>
            <a:ext cx="5130000" cy="434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0" name="PlaceHolder 4"/>
          <p:cNvSpPr>
            <a:spLocks noGrp="1"/>
          </p:cNvSpPr>
          <p:nvPr>
            <p:ph type="body"/>
          </p:nvPr>
        </p:nvSpPr>
        <p:spPr>
          <a:xfrm>
            <a:off x="838080" y="4097160"/>
            <a:ext cx="5130000" cy="20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1" name="PlaceHolder 5"/>
          <p:cNvSpPr>
            <a:spLocks noGrp="1"/>
          </p:cNvSpPr>
          <p:nvPr>
            <p:ph type="ftr" idx="67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82" name="PlaceHolder 6"/>
          <p:cNvSpPr>
            <a:spLocks noGrp="1"/>
          </p:cNvSpPr>
          <p:nvPr>
            <p:ph type="sldNum" idx="68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rgbClr val="787878"/>
                </a:solidFill>
                <a:uFillTx/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27C5DB4-BDDC-4E8D-A2E2-66C11891F083}" type="slidenum">
              <a:rPr b="0" lang="de-DE" sz="1200" strike="noStrike" u="none">
                <a:solidFill>
                  <a:srgbClr val="787878"/>
                </a:solidFill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83" name="PlaceHolder 7"/>
          <p:cNvSpPr>
            <a:spLocks noGrp="1"/>
          </p:cNvSpPr>
          <p:nvPr>
            <p:ph type="dt" idx="69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720" cy="132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0000" cy="434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body"/>
          </p:nvPr>
        </p:nvSpPr>
        <p:spPr>
          <a:xfrm>
            <a:off x="6225480" y="1825560"/>
            <a:ext cx="5130000" cy="20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1" name="PlaceHolder 4"/>
          <p:cNvSpPr>
            <a:spLocks noGrp="1"/>
          </p:cNvSpPr>
          <p:nvPr>
            <p:ph type="body"/>
          </p:nvPr>
        </p:nvSpPr>
        <p:spPr>
          <a:xfrm>
            <a:off x="6225480" y="4097160"/>
            <a:ext cx="5130000" cy="207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2" name="PlaceHolder 5"/>
          <p:cNvSpPr>
            <a:spLocks noGrp="1"/>
          </p:cNvSpPr>
          <p:nvPr>
            <p:ph type="ftr" idx="70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93" name="PlaceHolder 6"/>
          <p:cNvSpPr>
            <a:spLocks noGrp="1"/>
          </p:cNvSpPr>
          <p:nvPr>
            <p:ph type="sldNum" idx="71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de-DE" sz="1200" strike="noStrike" u="none">
                <a:solidFill>
                  <a:srgbClr val="787878"/>
                </a:solidFill>
                <a:uFillTx/>
                <a:latin typeface="Apto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15CE226-CD6C-44D6-BCD7-6F8746C62186}" type="slidenum">
              <a:rPr b="0" lang="de-DE" sz="1200" strike="noStrike" u="none">
                <a:solidFill>
                  <a:srgbClr val="787878"/>
                </a:solidFill>
                <a:uFillTx/>
                <a:latin typeface="Apto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94" name="PlaceHolder 7"/>
          <p:cNvSpPr>
            <a:spLocks noGrp="1"/>
          </p:cNvSpPr>
          <p:nvPr>
            <p:ph type="dt" idx="72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icture 3"/>
          <p:cNvSpPr/>
          <p:nvPr/>
        </p:nvSpPr>
        <p:spPr>
          <a:xfrm>
            <a:off x="4110120" y="0"/>
            <a:ext cx="8079120" cy="6855120"/>
          </a:xfrm>
          <a:custGeom>
            <a:avLst/>
            <a:gdLst>
              <a:gd name="textAreaLeft" fmla="*/ 0 w 8079120"/>
              <a:gd name="textAreaRight" fmla="*/ 8079480 w 8079120"/>
              <a:gd name="textAreaTop" fmla="*/ 0 h 6855120"/>
              <a:gd name="textAreaBottom" fmla="*/ 6855480 h 6855120"/>
            </a:gdLst>
            <a:ahLst/>
            <a:rect l="textAreaLeft" t="textAreaTop" r="textAreaRight" b="textAreaBottom"/>
            <a:pathLst>
              <a:path w="8081873" h="6858000">
                <a:moveTo>
                  <a:pt x="0" y="0"/>
                </a:moveTo>
                <a:lnTo>
                  <a:pt x="8081873" y="0"/>
                </a:lnTo>
                <a:lnTo>
                  <a:pt x="8081873" y="6858000"/>
                </a:lnTo>
                <a:lnTo>
                  <a:pt x="0" y="6858000"/>
                </a:lnTo>
                <a:lnTo>
                  <a:pt x="68897" y="6734633"/>
                </a:lnTo>
                <a:cubicBezTo>
                  <a:pt x="558802" y="5812845"/>
                  <a:pt x="848920" y="4668597"/>
                  <a:pt x="848920" y="3429000"/>
                </a:cubicBezTo>
                <a:cubicBezTo>
                  <a:pt x="848920" y="2189404"/>
                  <a:pt x="558802" y="1045156"/>
                  <a:pt x="68897" y="123368"/>
                </a:cubicBez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00" name="Immagine 4" descr="Immagine che contiene giocattolo, cartone animato&#10;&#10;Descrizione generata automaticamente"/>
          <p:cNvPicPr/>
          <p:nvPr/>
        </p:nvPicPr>
        <p:blipFill>
          <a:blip r:embed="rId2"/>
          <a:stretch/>
        </p:blipFill>
        <p:spPr>
          <a:xfrm>
            <a:off x="8077320" y="2729520"/>
            <a:ext cx="4111920" cy="4111920"/>
          </a:xfrm>
          <a:prstGeom prst="rect">
            <a:avLst/>
          </a:prstGeom>
          <a:ln w="0">
            <a:noFill/>
          </a:ln>
        </p:spPr>
      </p:pic>
      <p:pic>
        <p:nvPicPr>
          <p:cNvPr id="201" name="Immagine 5" descr="Immagine che contiene testo, Elementi grafici, Carattere, cerchio&#10;&#10;Descrizione generata automaticamente"/>
          <p:cNvPicPr/>
          <p:nvPr/>
        </p:nvPicPr>
        <p:blipFill>
          <a:blip r:embed="rId3"/>
          <a:srcRect l="1726" t="1341" r="3873" b="2356"/>
          <a:stretch/>
        </p:blipFill>
        <p:spPr>
          <a:xfrm>
            <a:off x="532800" y="1447920"/>
            <a:ext cx="3881880" cy="3959640"/>
          </a:xfrm>
          <a:prstGeom prst="rect">
            <a:avLst/>
          </a:prstGeom>
          <a:ln w="0">
            <a:noFill/>
          </a:ln>
        </p:spPr>
      </p:pic>
      <p:sp>
        <p:nvSpPr>
          <p:cNvPr id="202" name="CasellaDiTesto 6"/>
          <p:cNvSpPr/>
          <p:nvPr/>
        </p:nvSpPr>
        <p:spPr>
          <a:xfrm>
            <a:off x="1771560" y="2743200"/>
            <a:ext cx="1657080" cy="231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i="1" lang="it-IT" sz="14600" strike="noStrike" u="none">
                <a:solidFill>
                  <a:srgbClr val="c20000"/>
                </a:solidFill>
                <a:uFillTx/>
                <a:latin typeface="Karumbi"/>
                <a:ea typeface="DejaVu Sans"/>
              </a:rPr>
              <a:t>AI</a:t>
            </a:r>
            <a:endParaRPr b="0" lang="en-US" sz="14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Rectangle 8"/>
          <p:cNvSpPr/>
          <p:nvPr/>
        </p:nvSpPr>
        <p:spPr>
          <a:xfrm>
            <a:off x="0" y="0"/>
            <a:ext cx="12188880" cy="68551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4132440" y="693360"/>
            <a:ext cx="3673800" cy="72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rgbClr val="0e2841"/>
                </a:solidFill>
                <a:uFillTx/>
                <a:latin typeface="Aptos Display"/>
              </a:rPr>
              <a:t>Outline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05" name="Group 10"/>
          <p:cNvGrpSpPr/>
          <p:nvPr/>
        </p:nvGrpSpPr>
        <p:grpSpPr>
          <a:xfrm>
            <a:off x="1091160" y="3960"/>
            <a:ext cx="9744840" cy="6855120"/>
            <a:chOff x="1091160" y="3960"/>
            <a:chExt cx="9744840" cy="6855120"/>
          </a:xfrm>
        </p:grpSpPr>
        <p:sp>
          <p:nvSpPr>
            <p:cNvPr id="206" name="Freeform: Shape 11"/>
            <p:cNvSpPr/>
            <p:nvPr/>
          </p:nvSpPr>
          <p:spPr>
            <a:xfrm>
              <a:off x="1333440" y="3960"/>
              <a:ext cx="9309960" cy="6855120"/>
            </a:xfrm>
            <a:custGeom>
              <a:avLst/>
              <a:gdLst>
                <a:gd name="textAreaLeft" fmla="*/ 0 w 9309960"/>
                <a:gd name="textAreaRight" fmla="*/ 9310320 w 9309960"/>
                <a:gd name="textAreaTop" fmla="*/ 0 h 6855120"/>
                <a:gd name="textAreaBottom" fmla="*/ 6855480 h 6855120"/>
              </a:gdLst>
              <a:ahLst/>
              <a:rect l="textAreaLeft" t="textAreaTop" r="textAreaRight" b="textAreaBottom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8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07" name="Freeform: Shape 12"/>
            <p:cNvSpPr/>
            <p:nvPr/>
          </p:nvSpPr>
          <p:spPr>
            <a:xfrm>
              <a:off x="1432080" y="3960"/>
              <a:ext cx="9062640" cy="6855120"/>
            </a:xfrm>
            <a:custGeom>
              <a:avLst/>
              <a:gdLst>
                <a:gd name="textAreaLeft" fmla="*/ 0 w 9062640"/>
                <a:gd name="textAreaRight" fmla="*/ 9063000 w 9062640"/>
                <a:gd name="textAreaTop" fmla="*/ 0 h 6855120"/>
                <a:gd name="textAreaBottom" fmla="*/ 6855480 h 6855120"/>
              </a:gdLst>
              <a:ahLst/>
              <a:rect l="textAreaLeft" t="textAreaTop" r="textAreaRight" b="textAreaBottom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208" name="Freeform: Shape 13"/>
            <p:cNvSpPr/>
            <p:nvPr/>
          </p:nvSpPr>
          <p:spPr>
            <a:xfrm>
              <a:off x="1420920" y="3960"/>
              <a:ext cx="9085320" cy="6855120"/>
            </a:xfrm>
            <a:custGeom>
              <a:avLst/>
              <a:gdLst>
                <a:gd name="textAreaLeft" fmla="*/ 0 w 9085320"/>
                <a:gd name="textAreaRight" fmla="*/ 9085680 w 9085320"/>
                <a:gd name="textAreaTop" fmla="*/ 0 h 6855120"/>
                <a:gd name="textAreaBottom" fmla="*/ 6855480 h 6855120"/>
              </a:gdLst>
              <a:ahLst/>
              <a:rect l="textAreaLeft" t="textAreaTop" r="textAreaRight" b="textAreaBottom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2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09" name="Freeform: Shape 14"/>
            <p:cNvSpPr/>
            <p:nvPr/>
          </p:nvSpPr>
          <p:spPr>
            <a:xfrm>
              <a:off x="1401840" y="3960"/>
              <a:ext cx="9104400" cy="6855120"/>
            </a:xfrm>
            <a:custGeom>
              <a:avLst/>
              <a:gdLst>
                <a:gd name="textAreaLeft" fmla="*/ 0 w 9104400"/>
                <a:gd name="textAreaRight" fmla="*/ 9104760 w 9104400"/>
                <a:gd name="textAreaTop" fmla="*/ 0 h 6855120"/>
                <a:gd name="textAreaBottom" fmla="*/ 6855480 h 6855120"/>
              </a:gdLst>
              <a:ahLst/>
              <a:rect l="textAreaLeft" t="textAreaTop" r="textAreaRight" b="textAreaBottom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8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10" name="Freeform: Shape 15"/>
            <p:cNvSpPr/>
            <p:nvPr/>
          </p:nvSpPr>
          <p:spPr>
            <a:xfrm>
              <a:off x="1091160" y="3960"/>
              <a:ext cx="9744840" cy="6855120"/>
            </a:xfrm>
            <a:custGeom>
              <a:avLst/>
              <a:gdLst>
                <a:gd name="textAreaLeft" fmla="*/ 0 w 9744840"/>
                <a:gd name="textAreaRight" fmla="*/ 9745200 w 9744840"/>
                <a:gd name="textAreaTop" fmla="*/ 0 h 6855120"/>
                <a:gd name="textAreaBottom" fmla="*/ 6855480 h 6855120"/>
              </a:gdLst>
              <a:ahLst/>
              <a:rect l="textAreaLeft" t="textAreaTop" r="textAreaRight" b="textAreaBottom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2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grpSp>
        <p:nvGrpSpPr>
          <p:cNvPr id="211" name="Diagram1"/>
          <p:cNvGrpSpPr/>
          <p:nvPr/>
        </p:nvGrpSpPr>
        <p:grpSpPr>
          <a:xfrm>
            <a:off x="4251960" y="2045160"/>
            <a:ext cx="4204440" cy="2766960"/>
            <a:chOff x="4251960" y="2045160"/>
            <a:chExt cx="4204440" cy="2766960"/>
          </a:xfrm>
        </p:grpSpPr>
        <p:sp>
          <p:nvSpPr>
            <p:cNvPr id="212" name=""/>
            <p:cNvSpPr/>
            <p:nvPr/>
          </p:nvSpPr>
          <p:spPr>
            <a:xfrm>
              <a:off x="4323960" y="2045160"/>
              <a:ext cx="4132440" cy="2766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13" name=""/>
            <p:cNvSpPr/>
            <p:nvPr/>
          </p:nvSpPr>
          <p:spPr>
            <a:xfrm>
              <a:off x="4251960" y="2093760"/>
              <a:ext cx="3447000" cy="612360"/>
            </a:xfrm>
            <a:prstGeom prst="roundRect">
              <a:avLst>
                <a:gd name="adj" fmla="val 16667"/>
              </a:avLst>
            </a:prstGeom>
            <a:solidFill>
              <a:schemeClr val="accent2"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ffffff"/>
              </a:solidFill>
            </a:ln>
          </p:spPr>
          <p:style>
            <a:lnRef idx="2"/>
            <a:fillRef idx="0"/>
            <a:effectRef idx="0"/>
            <a:fontRef idx="minor"/>
          </p:style>
          <p:txBody>
            <a:bodyPr numCol="1" spcCol="1440" lIns="95400" rIns="95400" tIns="95400" bIns="95400" anchor="ctr">
              <a:noAutofit/>
            </a:bodyPr>
            <a:p>
              <a:pPr algn="ctr">
                <a:lnSpc>
                  <a:spcPct val="90000"/>
                </a:lnSpc>
                <a:spcAft>
                  <a:spcPts val="876"/>
                </a:spcAft>
                <a:tabLst>
                  <a:tab algn="l" pos="0"/>
                </a:tabLst>
              </a:pPr>
              <a:r>
                <a:rPr b="0" lang="en-US" sz="2500" strike="noStrike" u="none">
                  <a:solidFill>
                    <a:srgbClr val="ffffff"/>
                  </a:solidFill>
                  <a:uFillTx/>
                  <a:latin typeface="Aptos"/>
                  <a:ea typeface="DejaVu Sans"/>
                </a:rPr>
                <a:t>La sfida</a:t>
              </a:r>
              <a:endParaRPr b="0" lang="en-US" sz="25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214" name=""/>
            <p:cNvSpPr/>
            <p:nvPr/>
          </p:nvSpPr>
          <p:spPr>
            <a:xfrm>
              <a:off x="4251960" y="2779920"/>
              <a:ext cx="3447000" cy="612360"/>
            </a:xfrm>
            <a:prstGeom prst="roundRect">
              <a:avLst>
                <a:gd name="adj" fmla="val 16667"/>
              </a:avLst>
            </a:prstGeom>
            <a:solidFill>
              <a:schemeClr val="accent2">
                <a:hueOff val="2147871"/>
                <a:satOff val="-6164"/>
                <a:lumOff val="-9870"/>
                <a:alphaOff val="0"/>
              </a:schemeClr>
            </a:solidFill>
            <a:ln>
              <a:solidFill>
                <a:srgbClr val="ffffff"/>
              </a:solidFill>
            </a:ln>
          </p:spPr>
          <p:style>
            <a:lnRef idx="2"/>
            <a:fillRef idx="0"/>
            <a:effectRef idx="0"/>
            <a:fontRef idx="minor"/>
          </p:style>
          <p:txBody>
            <a:bodyPr numCol="1" spcCol="1440" lIns="95400" rIns="95400" tIns="95400" bIns="95400" anchor="ctr">
              <a:noAutofit/>
            </a:bodyPr>
            <a:p>
              <a:pPr algn="ctr">
                <a:lnSpc>
                  <a:spcPct val="90000"/>
                </a:lnSpc>
                <a:spcAft>
                  <a:spcPts val="876"/>
                </a:spcAft>
                <a:tabLst>
                  <a:tab algn="l" pos="0"/>
                </a:tabLst>
              </a:pPr>
              <a:r>
                <a:rPr b="0" lang="en-US" sz="2500" strike="noStrike" u="none">
                  <a:solidFill>
                    <a:srgbClr val="ffffff"/>
                  </a:solidFill>
                  <a:uFillTx/>
                  <a:latin typeface="Aptos"/>
                  <a:ea typeface="DejaVu Sans"/>
                </a:rPr>
                <a:t>Training del modello</a:t>
              </a:r>
              <a:endParaRPr b="0" lang="en-US" sz="25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15" name=""/>
            <p:cNvSpPr/>
            <p:nvPr/>
          </p:nvSpPr>
          <p:spPr>
            <a:xfrm>
              <a:off x="4251960" y="3466080"/>
              <a:ext cx="3447000" cy="612360"/>
            </a:xfrm>
            <a:prstGeom prst="roundRect">
              <a:avLst>
                <a:gd name="adj" fmla="val 16667"/>
              </a:avLst>
            </a:prstGeom>
            <a:solidFill>
              <a:schemeClr val="accent2">
                <a:hueOff val="4295743"/>
                <a:satOff val="-12329"/>
                <a:lumOff val="-19739"/>
                <a:alphaOff val="0"/>
              </a:schemeClr>
            </a:solidFill>
            <a:ln>
              <a:solidFill>
                <a:srgbClr val="ffffff"/>
              </a:solidFill>
            </a:ln>
          </p:spPr>
          <p:style>
            <a:lnRef idx="2"/>
            <a:fillRef idx="0"/>
            <a:effectRef idx="0"/>
            <a:fontRef idx="minor"/>
          </p:style>
          <p:txBody>
            <a:bodyPr numCol="1" spcCol="1440" lIns="95400" rIns="95400" tIns="95400" bIns="95400" anchor="ctr">
              <a:noAutofit/>
            </a:bodyPr>
            <a:p>
              <a:pPr algn="ctr">
                <a:lnSpc>
                  <a:spcPct val="90000"/>
                </a:lnSpc>
                <a:spcAft>
                  <a:spcPts val="876"/>
                </a:spcAft>
                <a:tabLst>
                  <a:tab algn="l" pos="0"/>
                </a:tabLst>
              </a:pPr>
              <a:r>
                <a:rPr b="0" lang="en-US" sz="2500" strike="noStrike" u="none">
                  <a:solidFill>
                    <a:srgbClr val="ffffff"/>
                  </a:solidFill>
                  <a:uFillTx/>
                  <a:latin typeface="Aptos"/>
                  <a:ea typeface="DejaVu Sans"/>
                </a:rPr>
                <a:t>Nasce Genefood AI</a:t>
              </a:r>
              <a:endParaRPr b="0" lang="en-US" sz="25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216" name=""/>
            <p:cNvSpPr/>
            <p:nvPr/>
          </p:nvSpPr>
          <p:spPr>
            <a:xfrm>
              <a:off x="4251960" y="4152240"/>
              <a:ext cx="3447000" cy="612360"/>
            </a:xfrm>
            <a:prstGeom prst="roundRect">
              <a:avLst>
                <a:gd name="adj" fmla="val 16667"/>
              </a:avLst>
            </a:prstGeom>
            <a:solidFill>
              <a:schemeClr val="accent2">
                <a:hueOff val="6443614"/>
                <a:satOff val="-18493"/>
                <a:lumOff val="-29609"/>
                <a:alphaOff val="0"/>
              </a:schemeClr>
            </a:solidFill>
            <a:ln>
              <a:solidFill>
                <a:srgbClr val="ffffff"/>
              </a:solidFill>
            </a:ln>
          </p:spPr>
          <p:style>
            <a:lnRef idx="2"/>
            <a:fillRef idx="0"/>
            <a:effectRef idx="0"/>
            <a:fontRef idx="minor"/>
          </p:style>
          <p:txBody>
            <a:bodyPr numCol="1" spcCol="1440" lIns="95400" rIns="95400" tIns="95400" bIns="95400" anchor="ctr">
              <a:noAutofit/>
            </a:bodyPr>
            <a:p>
              <a:pPr algn="ctr">
                <a:lnSpc>
                  <a:spcPct val="90000"/>
                </a:lnSpc>
                <a:spcAft>
                  <a:spcPts val="876"/>
                </a:spcAft>
                <a:tabLst>
                  <a:tab algn="l" pos="0"/>
                </a:tabLst>
              </a:pPr>
              <a:r>
                <a:rPr b="0" lang="en-US" sz="2500" strike="noStrike" u="none">
                  <a:solidFill>
                    <a:srgbClr val="ffffff"/>
                  </a:solidFill>
                  <a:uFillTx/>
                  <a:latin typeface="Aptos"/>
                  <a:ea typeface="DejaVu Sans"/>
                </a:rPr>
                <a:t>Risultati e demo</a:t>
              </a:r>
              <a:endParaRPr b="0" lang="en-US" sz="2500" strike="noStrike" u="none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Rectangle 26"/>
          <p:cNvSpPr/>
          <p:nvPr/>
        </p:nvSpPr>
        <p:spPr>
          <a:xfrm>
            <a:off x="0" y="0"/>
            <a:ext cx="12188880" cy="68551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8" name="Rectangle 28"/>
          <p:cNvSpPr/>
          <p:nvPr/>
        </p:nvSpPr>
        <p:spPr>
          <a:xfrm>
            <a:off x="360" y="432000"/>
            <a:ext cx="12188880" cy="6855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19" name="Group 30"/>
          <p:cNvGrpSpPr/>
          <p:nvPr/>
        </p:nvGrpSpPr>
        <p:grpSpPr>
          <a:xfrm>
            <a:off x="0" y="0"/>
            <a:ext cx="3342960" cy="2508120"/>
            <a:chOff x="0" y="0"/>
            <a:chExt cx="3342960" cy="2508120"/>
          </a:xfrm>
        </p:grpSpPr>
        <p:sp>
          <p:nvSpPr>
            <p:cNvPr id="220" name="Freeform: Shape 31"/>
            <p:cNvSpPr/>
            <p:nvPr/>
          </p:nvSpPr>
          <p:spPr>
            <a:xfrm>
              <a:off x="360" y="0"/>
              <a:ext cx="3327840" cy="2313720"/>
            </a:xfrm>
            <a:custGeom>
              <a:avLst/>
              <a:gdLst>
                <a:gd name="textAreaLeft" fmla="*/ 0 w 3327840"/>
                <a:gd name="textAreaRight" fmla="*/ 3328200 w 3327840"/>
                <a:gd name="textAreaTop" fmla="*/ 0 h 2313720"/>
                <a:gd name="textAreaBottom" fmla="*/ 2314080 h 2313720"/>
              </a:gdLst>
              <a:ahLst/>
              <a:rect l="textAreaLeft" t="textAreaTop" r="textAreaRight" b="textAreaBottom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21" name="Freeform: Shape 32"/>
            <p:cNvSpPr/>
            <p:nvPr/>
          </p:nvSpPr>
          <p:spPr>
            <a:xfrm>
              <a:off x="360" y="0"/>
              <a:ext cx="3327840" cy="2313720"/>
            </a:xfrm>
            <a:custGeom>
              <a:avLst/>
              <a:gdLst>
                <a:gd name="textAreaLeft" fmla="*/ 0 w 3327840"/>
                <a:gd name="textAreaRight" fmla="*/ 3328200 w 3327840"/>
                <a:gd name="textAreaTop" fmla="*/ 0 h 2313720"/>
                <a:gd name="textAreaBottom" fmla="*/ 2314080 h 2313720"/>
              </a:gdLst>
              <a:ahLst/>
              <a:rect l="textAreaLeft" t="textAreaTop" r="textAreaRight" b="textAreaBottom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22" name="Freeform: Shape 33"/>
            <p:cNvSpPr/>
            <p:nvPr/>
          </p:nvSpPr>
          <p:spPr>
            <a:xfrm>
              <a:off x="0" y="0"/>
              <a:ext cx="3328560" cy="2333160"/>
            </a:xfrm>
            <a:custGeom>
              <a:avLst/>
              <a:gdLst>
                <a:gd name="textAreaLeft" fmla="*/ 0 w 3328560"/>
                <a:gd name="textAreaRight" fmla="*/ 3328920 w 3328560"/>
                <a:gd name="textAreaTop" fmla="*/ 0 h 2333160"/>
                <a:gd name="textAreaBottom" fmla="*/ 2333520 h 2333160"/>
              </a:gdLst>
              <a:ahLst/>
              <a:rect l="textAreaLeft" t="textAreaTop" r="textAreaRight" b="textAreaBottom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23" name="Freeform: Shape 34"/>
            <p:cNvSpPr/>
            <p:nvPr/>
          </p:nvSpPr>
          <p:spPr>
            <a:xfrm>
              <a:off x="360" y="0"/>
              <a:ext cx="3342600" cy="2508120"/>
            </a:xfrm>
            <a:custGeom>
              <a:avLst/>
              <a:gdLst>
                <a:gd name="textAreaLeft" fmla="*/ 0 w 3342600"/>
                <a:gd name="textAreaRight" fmla="*/ 3342960 w 3342600"/>
                <a:gd name="textAreaTop" fmla="*/ 0 h 2508120"/>
                <a:gd name="textAreaBottom" fmla="*/ 2508480 h 2508120"/>
              </a:gdLst>
              <a:ahLst/>
              <a:rect l="textAreaLeft" t="textAreaTop" r="textAreaRight" b="textAreaBottom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grpSp>
        <p:nvGrpSpPr>
          <p:cNvPr id="224" name="Group 36"/>
          <p:cNvGrpSpPr/>
          <p:nvPr/>
        </p:nvGrpSpPr>
        <p:grpSpPr>
          <a:xfrm>
            <a:off x="9830520" y="2979360"/>
            <a:ext cx="2365920" cy="3875760"/>
            <a:chOff x="9830520" y="2979360"/>
            <a:chExt cx="2365920" cy="3875760"/>
          </a:xfrm>
        </p:grpSpPr>
        <p:sp>
          <p:nvSpPr>
            <p:cNvPr id="225" name="Freeform: Shape 37"/>
            <p:cNvSpPr/>
            <p:nvPr/>
          </p:nvSpPr>
          <p:spPr>
            <a:xfrm rot="5400000">
              <a:off x="9075600" y="3734280"/>
              <a:ext cx="3875760" cy="2365920"/>
            </a:xfrm>
            <a:custGeom>
              <a:avLst/>
              <a:gdLst>
                <a:gd name="textAreaLeft" fmla="*/ 0 w 3875760"/>
                <a:gd name="textAreaRight" fmla="*/ 3876120 w 3875760"/>
                <a:gd name="textAreaTop" fmla="*/ 0 h 2365920"/>
                <a:gd name="textAreaBottom" fmla="*/ 2366280 h 2365920"/>
              </a:gdLst>
              <a:ahLst/>
              <a:rect l="textAreaLeft" t="textAreaTop" r="textAreaRight" b="textAreaBottom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26" name="Freeform: Shape 38"/>
            <p:cNvSpPr/>
            <p:nvPr/>
          </p:nvSpPr>
          <p:spPr>
            <a:xfrm rot="5400000">
              <a:off x="9192240" y="3850920"/>
              <a:ext cx="3839760" cy="2168280"/>
            </a:xfrm>
            <a:custGeom>
              <a:avLst/>
              <a:gdLst>
                <a:gd name="textAreaLeft" fmla="*/ 0 w 3839760"/>
                <a:gd name="textAreaRight" fmla="*/ 3840120 w 3839760"/>
                <a:gd name="textAreaTop" fmla="*/ 0 h 2168280"/>
                <a:gd name="textAreaBottom" fmla="*/ 2168640 h 2168280"/>
              </a:gdLst>
              <a:ahLst/>
              <a:rect l="textAreaLeft" t="textAreaTop" r="textAreaRight" b="textAreaBottom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27" name="Freeform: Shape 39"/>
            <p:cNvSpPr/>
            <p:nvPr/>
          </p:nvSpPr>
          <p:spPr>
            <a:xfrm rot="5400000">
              <a:off x="9213480" y="3872160"/>
              <a:ext cx="3836160" cy="2129760"/>
            </a:xfrm>
            <a:custGeom>
              <a:avLst/>
              <a:gdLst>
                <a:gd name="textAreaLeft" fmla="*/ 0 w 3836160"/>
                <a:gd name="textAreaRight" fmla="*/ 3836520 w 3836160"/>
                <a:gd name="textAreaTop" fmla="*/ 0 h 2129760"/>
                <a:gd name="textAreaBottom" fmla="*/ 2130120 h 2129760"/>
              </a:gdLst>
              <a:ahLst/>
              <a:rect l="textAreaLeft" t="textAreaTop" r="textAreaRight" b="textAreaBottom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28" name="Freeform: Shape 40"/>
            <p:cNvSpPr/>
            <p:nvPr/>
          </p:nvSpPr>
          <p:spPr>
            <a:xfrm rot="5400000">
              <a:off x="9213480" y="3872160"/>
              <a:ext cx="3836160" cy="2129760"/>
            </a:xfrm>
            <a:custGeom>
              <a:avLst/>
              <a:gdLst>
                <a:gd name="textAreaLeft" fmla="*/ 0 w 3836160"/>
                <a:gd name="textAreaRight" fmla="*/ 3836520 w 3836160"/>
                <a:gd name="textAreaTop" fmla="*/ 0 h 2129760"/>
                <a:gd name="textAreaBottom" fmla="*/ 2130120 h 2129760"/>
              </a:gdLst>
              <a:ahLst/>
              <a:rect l="textAreaLeft" t="textAreaTop" r="textAreaRight" b="textAreaBottom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229" name="PlaceHolder 1"/>
          <p:cNvSpPr>
            <a:spLocks noGrp="1"/>
          </p:cNvSpPr>
          <p:nvPr>
            <p:ph/>
          </p:nvPr>
        </p:nvSpPr>
        <p:spPr>
          <a:xfrm>
            <a:off x="2716920" y="1997280"/>
            <a:ext cx="6883200" cy="143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e2841"/>
              </a:buClr>
              <a:buFont typeface="Arial"/>
              <a:buChar char="•"/>
            </a:pPr>
            <a:r>
              <a:rPr b="0" lang="it-IT" sz="1800" strike="noStrike" u="none">
                <a:solidFill>
                  <a:srgbClr val="0e2841"/>
                </a:solidFill>
                <a:uFillTx/>
                <a:latin typeface="Aptos"/>
              </a:rPr>
              <a:t>Creare una nuova versione di GeneFood, che sfrutti al meglio le potenzialità di AI: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it-IT" sz="1800" strike="noStrike" u="none">
                <a:solidFill>
                  <a:srgbClr val="0e2841"/>
                </a:solidFill>
                <a:uFillTx/>
                <a:latin typeface="Aptos"/>
              </a:rPr>
              <a:t>Piani alimentari </a:t>
            </a:r>
            <a:r>
              <a:rPr b="1" i="1" lang="it-IT" sz="1800" strike="noStrike" u="none">
                <a:solidFill>
                  <a:srgbClr val="0e2841"/>
                </a:solidFill>
                <a:uFillTx/>
                <a:latin typeface="Aptos"/>
              </a:rPr>
              <a:t>estremamente </a:t>
            </a:r>
            <a:r>
              <a:rPr b="0" lang="it-IT" sz="1800" strike="noStrike" u="none">
                <a:solidFill>
                  <a:srgbClr val="0e2841"/>
                </a:solidFill>
                <a:uFillTx/>
                <a:latin typeface="Aptos"/>
              </a:rPr>
              <a:t>personalizzati (unicità)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it-IT" sz="1800" strike="noStrike" u="none">
                <a:solidFill>
                  <a:srgbClr val="0e2841"/>
                </a:solidFill>
                <a:uFillTx/>
                <a:latin typeface="Aptos"/>
              </a:rPr>
              <a:t>Indicazioni aggiuntive scientificamente solide (creatività)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title"/>
          </p:nvPr>
        </p:nvSpPr>
        <p:spPr>
          <a:xfrm>
            <a:off x="4132440" y="693360"/>
            <a:ext cx="3673800" cy="72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rgbClr val="e97132"/>
                </a:solidFill>
                <a:uFillTx/>
                <a:latin typeface="Aptos Display"/>
              </a:rPr>
              <a:t>La </a:t>
            </a:r>
            <a:r>
              <a:rPr b="1" lang="it-IT" sz="4400" strike="noStrike" u="none">
                <a:solidFill>
                  <a:srgbClr val="e97132"/>
                </a:solidFill>
                <a:uFillTx/>
                <a:latin typeface="Aptos Display"/>
              </a:rPr>
              <a:t>sfida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1" name="Segnaposto contenuto 2"/>
          <p:cNvSpPr/>
          <p:nvPr/>
        </p:nvSpPr>
        <p:spPr>
          <a:xfrm>
            <a:off x="2273760" y="3646080"/>
            <a:ext cx="7191360" cy="72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lvl="1" marL="685800" indent="-228600">
              <a:lnSpc>
                <a:spcPct val="115000"/>
              </a:lnSpc>
              <a:spcBef>
                <a:spcPts val="499"/>
              </a:spcBef>
              <a:buClr>
                <a:srgbClr val="0e2841"/>
              </a:buClr>
              <a:buFont typeface="Arial"/>
              <a:buChar char="•"/>
            </a:pPr>
            <a:r>
              <a:rPr b="0" lang="it-IT" sz="1800" strike="noStrike" u="none">
                <a:solidFill>
                  <a:srgbClr val="0e2841"/>
                </a:solidFill>
                <a:uFillTx/>
                <a:latin typeface="Aptos"/>
                <a:ea typeface="DejaVu Sans"/>
              </a:rPr>
              <a:t>"Intelligenza" </a:t>
            </a:r>
            <a:r>
              <a:rPr b="1" lang="it-IT" sz="1800" strike="noStrike" u="none">
                <a:solidFill>
                  <a:srgbClr val="0e2841"/>
                </a:solidFill>
                <a:uFillTx/>
                <a:latin typeface="Aptos"/>
                <a:ea typeface="DejaVu Sans"/>
              </a:rPr>
              <a:t>auto-aggiornante</a:t>
            </a:r>
            <a:r>
              <a:rPr b="0" lang="it-IT" sz="1800" strike="noStrike" u="none">
                <a:solidFill>
                  <a:srgbClr val="0e2841"/>
                </a:solidFill>
                <a:uFillTx/>
                <a:latin typeface="Aptos"/>
                <a:ea typeface="DejaVu Sans"/>
              </a:rPr>
              <a:t> che segua la rapida evoluzione delle AI commerciali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2" name="Rettangolo con angoli arrotondati 23"/>
          <p:cNvSpPr/>
          <p:nvPr/>
        </p:nvSpPr>
        <p:spPr>
          <a:xfrm>
            <a:off x="2603160" y="1799280"/>
            <a:ext cx="6996960" cy="163584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4f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3" name="Rettangolo con angoli arrotondati 24"/>
          <p:cNvSpPr/>
          <p:nvPr/>
        </p:nvSpPr>
        <p:spPr>
          <a:xfrm>
            <a:off x="2603160" y="3615480"/>
            <a:ext cx="6996960" cy="78876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4f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4" name="Rettangolo con angoli arrotondati 25"/>
          <p:cNvSpPr/>
          <p:nvPr/>
        </p:nvSpPr>
        <p:spPr>
          <a:xfrm>
            <a:off x="2603160" y="4585320"/>
            <a:ext cx="6996960" cy="5482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4f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5" name="Rettangolo con angoli arrotondati 27"/>
          <p:cNvSpPr/>
          <p:nvPr/>
        </p:nvSpPr>
        <p:spPr>
          <a:xfrm>
            <a:off x="2603160" y="5358240"/>
            <a:ext cx="6996960" cy="53424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4f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6" name="Segnaposto contenuto 2"/>
          <p:cNvSpPr/>
          <p:nvPr/>
        </p:nvSpPr>
        <p:spPr>
          <a:xfrm>
            <a:off x="2273760" y="5451120"/>
            <a:ext cx="274392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e2841"/>
              </a:buClr>
              <a:buFont typeface="Arial"/>
              <a:buChar char="•"/>
            </a:pPr>
            <a:r>
              <a:rPr b="0" lang="it-IT" sz="1800" strike="noStrike" u="none">
                <a:solidFill>
                  <a:srgbClr val="0e2841"/>
                </a:solidFill>
                <a:uFillTx/>
                <a:latin typeface="Aptos"/>
                <a:ea typeface="DejaVu Sans"/>
              </a:rPr>
              <a:t>Costi contenuti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2719800" y="4663440"/>
            <a:ext cx="2056320" cy="71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trike="noStrike" u="none">
                <a:solidFill>
                  <a:srgbClr val="0e2841"/>
                </a:solidFill>
                <a:uFillTx/>
                <a:latin typeface="Aptos"/>
                <a:ea typeface="DejaVu Sans"/>
              </a:rPr>
              <a:t>Facilità d'uso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" dur="500"/>
                                        <p:tgtEl>
                                          <p:spTgt spid="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3" dur="500"/>
                                        <p:tgtEl>
                                          <p:spTgt spid="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6" dur="500"/>
                                        <p:tgtEl>
                                          <p:spTgt spid="2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1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" dur="500"/>
                                        <p:tgtEl>
                                          <p:spTgt spid="2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2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37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0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Rectangle 26"/>
          <p:cNvSpPr/>
          <p:nvPr/>
        </p:nvSpPr>
        <p:spPr>
          <a:xfrm>
            <a:off x="0" y="0"/>
            <a:ext cx="12188880" cy="68551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9" name="Rectangle 28"/>
          <p:cNvSpPr/>
          <p:nvPr/>
        </p:nvSpPr>
        <p:spPr>
          <a:xfrm>
            <a:off x="360" y="0"/>
            <a:ext cx="12188880" cy="6855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40" name="Group 30"/>
          <p:cNvGrpSpPr/>
          <p:nvPr/>
        </p:nvGrpSpPr>
        <p:grpSpPr>
          <a:xfrm>
            <a:off x="0" y="0"/>
            <a:ext cx="3342960" cy="2508120"/>
            <a:chOff x="0" y="0"/>
            <a:chExt cx="3342960" cy="2508120"/>
          </a:xfrm>
        </p:grpSpPr>
        <p:sp>
          <p:nvSpPr>
            <p:cNvPr id="241" name="Freeform: Shape 31"/>
            <p:cNvSpPr/>
            <p:nvPr/>
          </p:nvSpPr>
          <p:spPr>
            <a:xfrm>
              <a:off x="360" y="0"/>
              <a:ext cx="3327840" cy="2313720"/>
            </a:xfrm>
            <a:custGeom>
              <a:avLst/>
              <a:gdLst>
                <a:gd name="textAreaLeft" fmla="*/ 0 w 3327840"/>
                <a:gd name="textAreaRight" fmla="*/ 3328200 w 3327840"/>
                <a:gd name="textAreaTop" fmla="*/ 0 h 2313720"/>
                <a:gd name="textAreaBottom" fmla="*/ 2314080 h 2313720"/>
              </a:gdLst>
              <a:ahLst/>
              <a:rect l="textAreaLeft" t="textAreaTop" r="textAreaRight" b="textAreaBottom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42" name="Freeform: Shape 32"/>
            <p:cNvSpPr/>
            <p:nvPr/>
          </p:nvSpPr>
          <p:spPr>
            <a:xfrm>
              <a:off x="360" y="0"/>
              <a:ext cx="3327840" cy="2313720"/>
            </a:xfrm>
            <a:custGeom>
              <a:avLst/>
              <a:gdLst>
                <a:gd name="textAreaLeft" fmla="*/ 0 w 3327840"/>
                <a:gd name="textAreaRight" fmla="*/ 3328200 w 3327840"/>
                <a:gd name="textAreaTop" fmla="*/ 0 h 2313720"/>
                <a:gd name="textAreaBottom" fmla="*/ 2314080 h 2313720"/>
              </a:gdLst>
              <a:ahLst/>
              <a:rect l="textAreaLeft" t="textAreaTop" r="textAreaRight" b="textAreaBottom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43" name="Freeform: Shape 33"/>
            <p:cNvSpPr/>
            <p:nvPr/>
          </p:nvSpPr>
          <p:spPr>
            <a:xfrm>
              <a:off x="0" y="0"/>
              <a:ext cx="3328560" cy="2333160"/>
            </a:xfrm>
            <a:custGeom>
              <a:avLst/>
              <a:gdLst>
                <a:gd name="textAreaLeft" fmla="*/ 0 w 3328560"/>
                <a:gd name="textAreaRight" fmla="*/ 3328920 w 3328560"/>
                <a:gd name="textAreaTop" fmla="*/ 0 h 2333160"/>
                <a:gd name="textAreaBottom" fmla="*/ 2333520 h 2333160"/>
              </a:gdLst>
              <a:ahLst/>
              <a:rect l="textAreaLeft" t="textAreaTop" r="textAreaRight" b="textAreaBottom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44" name="Freeform: Shape 34"/>
            <p:cNvSpPr/>
            <p:nvPr/>
          </p:nvSpPr>
          <p:spPr>
            <a:xfrm>
              <a:off x="360" y="0"/>
              <a:ext cx="3342600" cy="2508120"/>
            </a:xfrm>
            <a:custGeom>
              <a:avLst/>
              <a:gdLst>
                <a:gd name="textAreaLeft" fmla="*/ 0 w 3342600"/>
                <a:gd name="textAreaRight" fmla="*/ 3342960 w 3342600"/>
                <a:gd name="textAreaTop" fmla="*/ 0 h 2508120"/>
                <a:gd name="textAreaBottom" fmla="*/ 2508480 h 2508120"/>
              </a:gdLst>
              <a:ahLst/>
              <a:rect l="textAreaLeft" t="textAreaTop" r="textAreaRight" b="textAreaBottom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grpSp>
        <p:nvGrpSpPr>
          <p:cNvPr id="245" name="Group 36"/>
          <p:cNvGrpSpPr/>
          <p:nvPr/>
        </p:nvGrpSpPr>
        <p:grpSpPr>
          <a:xfrm>
            <a:off x="9830520" y="2979360"/>
            <a:ext cx="2365920" cy="3875760"/>
            <a:chOff x="9830520" y="2979360"/>
            <a:chExt cx="2365920" cy="3875760"/>
          </a:xfrm>
        </p:grpSpPr>
        <p:sp>
          <p:nvSpPr>
            <p:cNvPr id="246" name="Freeform: Shape 37"/>
            <p:cNvSpPr/>
            <p:nvPr/>
          </p:nvSpPr>
          <p:spPr>
            <a:xfrm rot="5400000">
              <a:off x="9075600" y="3734280"/>
              <a:ext cx="3875760" cy="2365920"/>
            </a:xfrm>
            <a:custGeom>
              <a:avLst/>
              <a:gdLst>
                <a:gd name="textAreaLeft" fmla="*/ 0 w 3875760"/>
                <a:gd name="textAreaRight" fmla="*/ 3876120 w 3875760"/>
                <a:gd name="textAreaTop" fmla="*/ 0 h 2365920"/>
                <a:gd name="textAreaBottom" fmla="*/ 2366280 h 2365920"/>
              </a:gdLst>
              <a:ahLst/>
              <a:rect l="textAreaLeft" t="textAreaTop" r="textAreaRight" b="textAreaBottom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47" name="Freeform: Shape 38"/>
            <p:cNvSpPr/>
            <p:nvPr/>
          </p:nvSpPr>
          <p:spPr>
            <a:xfrm rot="5400000">
              <a:off x="9192240" y="3850920"/>
              <a:ext cx="3839760" cy="2168280"/>
            </a:xfrm>
            <a:custGeom>
              <a:avLst/>
              <a:gdLst>
                <a:gd name="textAreaLeft" fmla="*/ 0 w 3839760"/>
                <a:gd name="textAreaRight" fmla="*/ 3840120 w 3839760"/>
                <a:gd name="textAreaTop" fmla="*/ 0 h 2168280"/>
                <a:gd name="textAreaBottom" fmla="*/ 2168640 h 2168280"/>
              </a:gdLst>
              <a:ahLst/>
              <a:rect l="textAreaLeft" t="textAreaTop" r="textAreaRight" b="textAreaBottom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48" name="Freeform: Shape 39"/>
            <p:cNvSpPr/>
            <p:nvPr/>
          </p:nvSpPr>
          <p:spPr>
            <a:xfrm rot="5400000">
              <a:off x="9213480" y="3872160"/>
              <a:ext cx="3836160" cy="2129760"/>
            </a:xfrm>
            <a:custGeom>
              <a:avLst/>
              <a:gdLst>
                <a:gd name="textAreaLeft" fmla="*/ 0 w 3836160"/>
                <a:gd name="textAreaRight" fmla="*/ 3836520 w 3836160"/>
                <a:gd name="textAreaTop" fmla="*/ 0 h 2129760"/>
                <a:gd name="textAreaBottom" fmla="*/ 2130120 h 2129760"/>
              </a:gdLst>
              <a:ahLst/>
              <a:rect l="textAreaLeft" t="textAreaTop" r="textAreaRight" b="textAreaBottom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49" name="Freeform: Shape 40"/>
            <p:cNvSpPr/>
            <p:nvPr/>
          </p:nvSpPr>
          <p:spPr>
            <a:xfrm rot="5400000">
              <a:off x="9213480" y="3872160"/>
              <a:ext cx="3836160" cy="2129760"/>
            </a:xfrm>
            <a:custGeom>
              <a:avLst/>
              <a:gdLst>
                <a:gd name="textAreaLeft" fmla="*/ 0 w 3836160"/>
                <a:gd name="textAreaRight" fmla="*/ 3836520 w 3836160"/>
                <a:gd name="textAreaTop" fmla="*/ 0 h 2129760"/>
                <a:gd name="textAreaBottom" fmla="*/ 2130120 h 2129760"/>
              </a:gdLst>
              <a:ahLst/>
              <a:rect l="textAreaLeft" t="textAreaTop" r="textAreaRight" b="textAreaBottom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3779280" y="686520"/>
            <a:ext cx="4643280" cy="72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fontScale="77500" lnSpcReduction="19999"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it-IT" sz="4400" strike="noStrike" u="none">
                <a:solidFill>
                  <a:srgbClr val="c7a900"/>
                </a:solidFill>
                <a:uFillTx/>
                <a:latin typeface="Aptos Display"/>
              </a:rPr>
              <a:t>Training</a:t>
            </a:r>
            <a:r>
              <a:rPr b="1" lang="en-US" sz="4400" strike="noStrike" u="none">
                <a:solidFill>
                  <a:srgbClr val="c7a900"/>
                </a:solidFill>
                <a:uFillTx/>
                <a:latin typeface="Aptos Display"/>
              </a:rPr>
              <a:t> del modello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51" name="Immagine 3" descr="Immagine che contiene testo, schermata, Carattere, documento&#10;&#10;Descrizione generata automaticamente"/>
          <p:cNvPicPr/>
          <p:nvPr/>
        </p:nvPicPr>
        <p:blipFill>
          <a:blip r:embed="rId1"/>
          <a:stretch/>
        </p:blipFill>
        <p:spPr>
          <a:xfrm>
            <a:off x="7614720" y="1787400"/>
            <a:ext cx="3187440" cy="469368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sp>
        <p:nvSpPr>
          <p:cNvPr id="252" name="CasellaDiTesto 12"/>
          <p:cNvSpPr/>
          <p:nvPr/>
        </p:nvSpPr>
        <p:spPr>
          <a:xfrm>
            <a:off x="2302200" y="2084040"/>
            <a:ext cx="4302000" cy="38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ptos"/>
                <a:ea typeface="DejaVu Sans"/>
              </a:rPr>
              <a:t>Un modello AI non può essere allenato con dei file Word o con PDF, ma solo con testo codificato</a:t>
            </a:r>
            <a:br>
              <a:rPr sz="1800"/>
            </a:br>
            <a:r>
              <a:rPr b="0" lang="it-IT" sz="1800" strike="noStrike" u="none">
                <a:solidFill>
                  <a:srgbClr val="f2f2f2"/>
                </a:solidFill>
                <a:uFillTx/>
                <a:latin typeface="Aptos"/>
                <a:ea typeface="DejaVu Sans"/>
              </a:rPr>
              <a:t> 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ptos"/>
                <a:ea typeface="DejaVu Sans"/>
              </a:rPr>
              <a:t>Non può ricevere troppe informazioni per limiti tecnici</a:t>
            </a:r>
            <a:br>
              <a:rPr sz="1800"/>
            </a:br>
            <a:r>
              <a:rPr b="0" lang="it-IT" sz="1400" strike="noStrike" u="none">
                <a:solidFill>
                  <a:srgbClr val="000000"/>
                </a:solidFill>
                <a:uFillTx/>
                <a:latin typeface="Aptos"/>
                <a:ea typeface="DejaVu Sans"/>
              </a:rPr>
              <a:t>(max 40mila sillabe/richiesta, risposta compresa)</a:t>
            </a:r>
            <a:br>
              <a:rPr sz="1800"/>
            </a:br>
            <a:r>
              <a:rPr b="0" lang="it-IT" sz="1800" strike="noStrike" u="none">
                <a:solidFill>
                  <a:srgbClr val="000000"/>
                </a:solidFill>
                <a:uFillTx/>
                <a:latin typeface="Aptos"/>
                <a:ea typeface="DejaVu Sans"/>
              </a:rPr>
              <a:t> 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ptos"/>
                <a:ea typeface="DejaVu Sans"/>
              </a:rPr>
              <a:t>Non può rispondere con un file Word o un PDF ben formattati (limiti tecnici + costi), ma performa bene solo con testo.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1" dur="indefinite" restart="never" nodeType="tmRoot">
          <p:childTnLst>
            <p:seq>
              <p:cTn id="42" dur="indefinite" nodeType="mainSeq">
                <p:childTnLst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47" dur="500"/>
                                        <p:tgtEl>
                                          <p:spTgt spid="2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2" dur="500"/>
                                        <p:tgtEl>
                                          <p:spTgt spid="2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57" dur="500"/>
                                        <p:tgtEl>
                                          <p:spTgt spid="2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Rectangle 26"/>
          <p:cNvSpPr/>
          <p:nvPr/>
        </p:nvSpPr>
        <p:spPr>
          <a:xfrm>
            <a:off x="0" y="0"/>
            <a:ext cx="12188880" cy="68551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4" name="Rectangle 28"/>
          <p:cNvSpPr/>
          <p:nvPr/>
        </p:nvSpPr>
        <p:spPr>
          <a:xfrm>
            <a:off x="360" y="0"/>
            <a:ext cx="12188880" cy="6855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55" name="Group 30"/>
          <p:cNvGrpSpPr/>
          <p:nvPr/>
        </p:nvGrpSpPr>
        <p:grpSpPr>
          <a:xfrm>
            <a:off x="0" y="0"/>
            <a:ext cx="3342960" cy="2508120"/>
            <a:chOff x="0" y="0"/>
            <a:chExt cx="3342960" cy="2508120"/>
          </a:xfrm>
        </p:grpSpPr>
        <p:sp>
          <p:nvSpPr>
            <p:cNvPr id="256" name="Freeform: Shape 31"/>
            <p:cNvSpPr/>
            <p:nvPr/>
          </p:nvSpPr>
          <p:spPr>
            <a:xfrm>
              <a:off x="360" y="0"/>
              <a:ext cx="3327840" cy="2313720"/>
            </a:xfrm>
            <a:custGeom>
              <a:avLst/>
              <a:gdLst>
                <a:gd name="textAreaLeft" fmla="*/ 0 w 3327840"/>
                <a:gd name="textAreaRight" fmla="*/ 3328200 w 3327840"/>
                <a:gd name="textAreaTop" fmla="*/ 0 h 2313720"/>
                <a:gd name="textAreaBottom" fmla="*/ 2314080 h 2313720"/>
              </a:gdLst>
              <a:ahLst/>
              <a:rect l="textAreaLeft" t="textAreaTop" r="textAreaRight" b="textAreaBottom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57" name="Freeform: Shape 32"/>
            <p:cNvSpPr/>
            <p:nvPr/>
          </p:nvSpPr>
          <p:spPr>
            <a:xfrm>
              <a:off x="360" y="0"/>
              <a:ext cx="3327840" cy="2313720"/>
            </a:xfrm>
            <a:custGeom>
              <a:avLst/>
              <a:gdLst>
                <a:gd name="textAreaLeft" fmla="*/ 0 w 3327840"/>
                <a:gd name="textAreaRight" fmla="*/ 3328200 w 3327840"/>
                <a:gd name="textAreaTop" fmla="*/ 0 h 2313720"/>
                <a:gd name="textAreaBottom" fmla="*/ 2314080 h 2313720"/>
              </a:gdLst>
              <a:ahLst/>
              <a:rect l="textAreaLeft" t="textAreaTop" r="textAreaRight" b="textAreaBottom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58" name="Freeform: Shape 33"/>
            <p:cNvSpPr/>
            <p:nvPr/>
          </p:nvSpPr>
          <p:spPr>
            <a:xfrm>
              <a:off x="0" y="0"/>
              <a:ext cx="3328560" cy="2333160"/>
            </a:xfrm>
            <a:custGeom>
              <a:avLst/>
              <a:gdLst>
                <a:gd name="textAreaLeft" fmla="*/ 0 w 3328560"/>
                <a:gd name="textAreaRight" fmla="*/ 3328920 w 3328560"/>
                <a:gd name="textAreaTop" fmla="*/ 0 h 2333160"/>
                <a:gd name="textAreaBottom" fmla="*/ 2333520 h 2333160"/>
              </a:gdLst>
              <a:ahLst/>
              <a:rect l="textAreaLeft" t="textAreaTop" r="textAreaRight" b="textAreaBottom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59" name="Freeform: Shape 34"/>
            <p:cNvSpPr/>
            <p:nvPr/>
          </p:nvSpPr>
          <p:spPr>
            <a:xfrm>
              <a:off x="360" y="0"/>
              <a:ext cx="3342600" cy="2508120"/>
            </a:xfrm>
            <a:custGeom>
              <a:avLst/>
              <a:gdLst>
                <a:gd name="textAreaLeft" fmla="*/ 0 w 3342600"/>
                <a:gd name="textAreaRight" fmla="*/ 3342960 w 3342600"/>
                <a:gd name="textAreaTop" fmla="*/ 0 h 2508120"/>
                <a:gd name="textAreaBottom" fmla="*/ 2508480 h 2508120"/>
              </a:gdLst>
              <a:ahLst/>
              <a:rect l="textAreaLeft" t="textAreaTop" r="textAreaRight" b="textAreaBottom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grpSp>
        <p:nvGrpSpPr>
          <p:cNvPr id="260" name="Group 36"/>
          <p:cNvGrpSpPr/>
          <p:nvPr/>
        </p:nvGrpSpPr>
        <p:grpSpPr>
          <a:xfrm>
            <a:off x="9830520" y="2979360"/>
            <a:ext cx="2365920" cy="3875760"/>
            <a:chOff x="9830520" y="2979360"/>
            <a:chExt cx="2365920" cy="3875760"/>
          </a:xfrm>
        </p:grpSpPr>
        <p:sp>
          <p:nvSpPr>
            <p:cNvPr id="261" name="Freeform: Shape 37"/>
            <p:cNvSpPr/>
            <p:nvPr/>
          </p:nvSpPr>
          <p:spPr>
            <a:xfrm rot="5400000">
              <a:off x="9075600" y="3734280"/>
              <a:ext cx="3875760" cy="2365920"/>
            </a:xfrm>
            <a:custGeom>
              <a:avLst/>
              <a:gdLst>
                <a:gd name="textAreaLeft" fmla="*/ 0 w 3875760"/>
                <a:gd name="textAreaRight" fmla="*/ 3876120 w 3875760"/>
                <a:gd name="textAreaTop" fmla="*/ 0 h 2365920"/>
                <a:gd name="textAreaBottom" fmla="*/ 2366280 h 2365920"/>
              </a:gdLst>
              <a:ahLst/>
              <a:rect l="textAreaLeft" t="textAreaTop" r="textAreaRight" b="textAreaBottom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62" name="Freeform: Shape 38"/>
            <p:cNvSpPr/>
            <p:nvPr/>
          </p:nvSpPr>
          <p:spPr>
            <a:xfrm rot="5400000">
              <a:off x="9192240" y="3850920"/>
              <a:ext cx="3839760" cy="2168280"/>
            </a:xfrm>
            <a:custGeom>
              <a:avLst/>
              <a:gdLst>
                <a:gd name="textAreaLeft" fmla="*/ 0 w 3839760"/>
                <a:gd name="textAreaRight" fmla="*/ 3840120 w 3839760"/>
                <a:gd name="textAreaTop" fmla="*/ 0 h 2168280"/>
                <a:gd name="textAreaBottom" fmla="*/ 2168640 h 2168280"/>
              </a:gdLst>
              <a:ahLst/>
              <a:rect l="textAreaLeft" t="textAreaTop" r="textAreaRight" b="textAreaBottom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63" name="Freeform: Shape 39"/>
            <p:cNvSpPr/>
            <p:nvPr/>
          </p:nvSpPr>
          <p:spPr>
            <a:xfrm rot="5400000">
              <a:off x="9213480" y="3872160"/>
              <a:ext cx="3836160" cy="2129760"/>
            </a:xfrm>
            <a:custGeom>
              <a:avLst/>
              <a:gdLst>
                <a:gd name="textAreaLeft" fmla="*/ 0 w 3836160"/>
                <a:gd name="textAreaRight" fmla="*/ 3836520 w 3836160"/>
                <a:gd name="textAreaTop" fmla="*/ 0 h 2129760"/>
                <a:gd name="textAreaBottom" fmla="*/ 2130120 h 2129760"/>
              </a:gdLst>
              <a:ahLst/>
              <a:rect l="textAreaLeft" t="textAreaTop" r="textAreaRight" b="textAreaBottom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64" name="Freeform: Shape 40"/>
            <p:cNvSpPr/>
            <p:nvPr/>
          </p:nvSpPr>
          <p:spPr>
            <a:xfrm rot="5400000">
              <a:off x="9213480" y="3872160"/>
              <a:ext cx="3836160" cy="2129760"/>
            </a:xfrm>
            <a:custGeom>
              <a:avLst/>
              <a:gdLst>
                <a:gd name="textAreaLeft" fmla="*/ 0 w 3836160"/>
                <a:gd name="textAreaRight" fmla="*/ 3836520 w 3836160"/>
                <a:gd name="textAreaTop" fmla="*/ 0 h 2129760"/>
                <a:gd name="textAreaBottom" fmla="*/ 2130120 h 2129760"/>
              </a:gdLst>
              <a:ahLst/>
              <a:rect l="textAreaLeft" t="textAreaTop" r="textAreaRight" b="textAreaBottom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3779280" y="686520"/>
            <a:ext cx="4643280" cy="72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fontScale="77500" lnSpcReduction="19999"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it-IT" sz="4400" strike="noStrike" u="none">
                <a:solidFill>
                  <a:srgbClr val="c7a900"/>
                </a:solidFill>
                <a:uFillTx/>
                <a:latin typeface="Aptos Display"/>
              </a:rPr>
              <a:t>Training</a:t>
            </a:r>
            <a:r>
              <a:rPr b="1" lang="en-US" sz="4400" strike="noStrike" u="none">
                <a:solidFill>
                  <a:srgbClr val="c7a900"/>
                </a:solidFill>
                <a:uFillTx/>
                <a:latin typeface="Aptos Display"/>
              </a:rPr>
              <a:t> del modello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66" name="Immagine 1" descr="Immagine che contiene testo, schermata, Carattere, documento&#10;&#10;Descrizione generata automaticamente"/>
          <p:cNvPicPr/>
          <p:nvPr/>
        </p:nvPicPr>
        <p:blipFill>
          <a:blip r:embed="rId1"/>
          <a:stretch/>
        </p:blipFill>
        <p:spPr>
          <a:xfrm>
            <a:off x="7186680" y="2071800"/>
            <a:ext cx="3427560" cy="367236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sp>
        <p:nvSpPr>
          <p:cNvPr id="267" name="CasellaDiTesto 5"/>
          <p:cNvSpPr/>
          <p:nvPr/>
        </p:nvSpPr>
        <p:spPr>
          <a:xfrm>
            <a:off x="2302200" y="2076120"/>
            <a:ext cx="4341960" cy="40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ptos"/>
                <a:ea typeface="DejaVu Sans"/>
              </a:rPr>
              <a:t>Un modello AI non può essere allenato con dei file Word o con PDF, ma solo con testo codificato</a:t>
            </a:r>
            <a:br>
              <a:rPr sz="1800"/>
            </a:br>
            <a:r>
              <a:rPr b="0" lang="it-IT" sz="1800" strike="noStrike" u="none">
                <a:solidFill>
                  <a:srgbClr val="d1d1d1"/>
                </a:solidFill>
                <a:uFillTx/>
                <a:latin typeface="Aptos"/>
                <a:ea typeface="DejaVu Sans"/>
              </a:rPr>
              <a:t> 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d1d1d1"/>
              </a:buClr>
              <a:buFont typeface="Arial"/>
              <a:buChar char="•"/>
            </a:pPr>
            <a:r>
              <a:rPr b="0" lang="it-IT" sz="1800" strike="noStrike" u="none">
                <a:solidFill>
                  <a:srgbClr val="d1d1d1"/>
                </a:solidFill>
                <a:uFillTx/>
                <a:latin typeface="Aptos"/>
                <a:ea typeface="DejaVu Sans"/>
              </a:rPr>
              <a:t>Non può ricevere troppe informazioni per limiti tecnici </a:t>
            </a:r>
            <a:br>
              <a:rPr sz="1800"/>
            </a:br>
            <a:r>
              <a:rPr b="0" lang="it-IT" sz="1400" strike="noStrike" u="none">
                <a:solidFill>
                  <a:srgbClr val="d1d1d1"/>
                </a:solidFill>
                <a:uFillTx/>
                <a:latin typeface="Aptos"/>
                <a:ea typeface="DejaVu Sans"/>
              </a:rPr>
              <a:t>(max ~40mila sillabe/richiesta, risposta compresa)</a:t>
            </a:r>
            <a:br>
              <a:rPr sz="1800"/>
            </a:br>
            <a:r>
              <a:rPr b="0" lang="it-IT" sz="1800" strike="noStrike" u="none">
                <a:solidFill>
                  <a:srgbClr val="d1d1d1"/>
                </a:solidFill>
                <a:uFillTx/>
                <a:latin typeface="Aptos"/>
                <a:ea typeface="DejaVu Sans"/>
              </a:rPr>
              <a:t> 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d1d1d1"/>
              </a:buClr>
              <a:buFont typeface="Arial"/>
              <a:buChar char="•"/>
            </a:pPr>
            <a:r>
              <a:rPr b="0" lang="it-IT" sz="1800" strike="noStrike" u="none">
                <a:solidFill>
                  <a:srgbClr val="d1d1d1"/>
                </a:solidFill>
                <a:uFillTx/>
                <a:latin typeface="Aptos"/>
                <a:ea typeface="DejaVu Sans"/>
              </a:rPr>
              <a:t>Non può rispondere con un file Word o un PDF ben formattati (limiti tecnici + costi), ma performa bene solo con testo.</a:t>
            </a:r>
            <a:br>
              <a:rPr sz="1800"/>
            </a:br>
            <a:r>
              <a:rPr b="0" lang="it-IT" sz="1800" strike="noStrike" u="none">
                <a:solidFill>
                  <a:srgbClr val="000000"/>
                </a:solidFill>
                <a:uFillTx/>
                <a:latin typeface="Aptos"/>
                <a:ea typeface="DejaVu Sans"/>
              </a:rPr>
              <a:t> 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Rectangle 26"/>
          <p:cNvSpPr/>
          <p:nvPr/>
        </p:nvSpPr>
        <p:spPr>
          <a:xfrm>
            <a:off x="0" y="0"/>
            <a:ext cx="12188880" cy="68551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9" name="Rectangle 28"/>
          <p:cNvSpPr/>
          <p:nvPr/>
        </p:nvSpPr>
        <p:spPr>
          <a:xfrm>
            <a:off x="360" y="0"/>
            <a:ext cx="12188880" cy="6855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70" name="Group 30"/>
          <p:cNvGrpSpPr/>
          <p:nvPr/>
        </p:nvGrpSpPr>
        <p:grpSpPr>
          <a:xfrm>
            <a:off x="0" y="0"/>
            <a:ext cx="3342960" cy="2508120"/>
            <a:chOff x="0" y="0"/>
            <a:chExt cx="3342960" cy="2508120"/>
          </a:xfrm>
        </p:grpSpPr>
        <p:sp>
          <p:nvSpPr>
            <p:cNvPr id="271" name="Freeform: Shape 31"/>
            <p:cNvSpPr/>
            <p:nvPr/>
          </p:nvSpPr>
          <p:spPr>
            <a:xfrm>
              <a:off x="360" y="0"/>
              <a:ext cx="3327840" cy="2313720"/>
            </a:xfrm>
            <a:custGeom>
              <a:avLst/>
              <a:gdLst>
                <a:gd name="textAreaLeft" fmla="*/ 0 w 3327840"/>
                <a:gd name="textAreaRight" fmla="*/ 3328200 w 3327840"/>
                <a:gd name="textAreaTop" fmla="*/ 0 h 2313720"/>
                <a:gd name="textAreaBottom" fmla="*/ 2314080 h 2313720"/>
              </a:gdLst>
              <a:ahLst/>
              <a:rect l="textAreaLeft" t="textAreaTop" r="textAreaRight" b="textAreaBottom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72" name="Freeform: Shape 32"/>
            <p:cNvSpPr/>
            <p:nvPr/>
          </p:nvSpPr>
          <p:spPr>
            <a:xfrm>
              <a:off x="360" y="0"/>
              <a:ext cx="3327840" cy="2313720"/>
            </a:xfrm>
            <a:custGeom>
              <a:avLst/>
              <a:gdLst>
                <a:gd name="textAreaLeft" fmla="*/ 0 w 3327840"/>
                <a:gd name="textAreaRight" fmla="*/ 3328200 w 3327840"/>
                <a:gd name="textAreaTop" fmla="*/ 0 h 2313720"/>
                <a:gd name="textAreaBottom" fmla="*/ 2314080 h 2313720"/>
              </a:gdLst>
              <a:ahLst/>
              <a:rect l="textAreaLeft" t="textAreaTop" r="textAreaRight" b="textAreaBottom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73" name="Freeform: Shape 33"/>
            <p:cNvSpPr/>
            <p:nvPr/>
          </p:nvSpPr>
          <p:spPr>
            <a:xfrm>
              <a:off x="0" y="0"/>
              <a:ext cx="3328560" cy="2333160"/>
            </a:xfrm>
            <a:custGeom>
              <a:avLst/>
              <a:gdLst>
                <a:gd name="textAreaLeft" fmla="*/ 0 w 3328560"/>
                <a:gd name="textAreaRight" fmla="*/ 3328920 w 3328560"/>
                <a:gd name="textAreaTop" fmla="*/ 0 h 2333160"/>
                <a:gd name="textAreaBottom" fmla="*/ 2333520 h 2333160"/>
              </a:gdLst>
              <a:ahLst/>
              <a:rect l="textAreaLeft" t="textAreaTop" r="textAreaRight" b="textAreaBottom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74" name="Freeform: Shape 34"/>
            <p:cNvSpPr/>
            <p:nvPr/>
          </p:nvSpPr>
          <p:spPr>
            <a:xfrm>
              <a:off x="360" y="0"/>
              <a:ext cx="3342600" cy="2508120"/>
            </a:xfrm>
            <a:custGeom>
              <a:avLst/>
              <a:gdLst>
                <a:gd name="textAreaLeft" fmla="*/ 0 w 3342600"/>
                <a:gd name="textAreaRight" fmla="*/ 3342960 w 3342600"/>
                <a:gd name="textAreaTop" fmla="*/ 0 h 2508120"/>
                <a:gd name="textAreaBottom" fmla="*/ 2508480 h 2508120"/>
              </a:gdLst>
              <a:ahLst/>
              <a:rect l="textAreaLeft" t="textAreaTop" r="textAreaRight" b="textAreaBottom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grpSp>
        <p:nvGrpSpPr>
          <p:cNvPr id="275" name="Group 36"/>
          <p:cNvGrpSpPr/>
          <p:nvPr/>
        </p:nvGrpSpPr>
        <p:grpSpPr>
          <a:xfrm>
            <a:off x="9830520" y="2979360"/>
            <a:ext cx="2365920" cy="3875760"/>
            <a:chOff x="9830520" y="2979360"/>
            <a:chExt cx="2365920" cy="3875760"/>
          </a:xfrm>
        </p:grpSpPr>
        <p:sp>
          <p:nvSpPr>
            <p:cNvPr id="276" name="Freeform: Shape 37"/>
            <p:cNvSpPr/>
            <p:nvPr/>
          </p:nvSpPr>
          <p:spPr>
            <a:xfrm rot="5400000">
              <a:off x="9075600" y="3734280"/>
              <a:ext cx="3875760" cy="2365920"/>
            </a:xfrm>
            <a:custGeom>
              <a:avLst/>
              <a:gdLst>
                <a:gd name="textAreaLeft" fmla="*/ 0 w 3875760"/>
                <a:gd name="textAreaRight" fmla="*/ 3876120 w 3875760"/>
                <a:gd name="textAreaTop" fmla="*/ 0 h 2365920"/>
                <a:gd name="textAreaBottom" fmla="*/ 2366280 h 2365920"/>
              </a:gdLst>
              <a:ahLst/>
              <a:rect l="textAreaLeft" t="textAreaTop" r="textAreaRight" b="textAreaBottom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77" name="Freeform: Shape 38"/>
            <p:cNvSpPr/>
            <p:nvPr/>
          </p:nvSpPr>
          <p:spPr>
            <a:xfrm rot="5400000">
              <a:off x="9192240" y="3850920"/>
              <a:ext cx="3839760" cy="2168280"/>
            </a:xfrm>
            <a:custGeom>
              <a:avLst/>
              <a:gdLst>
                <a:gd name="textAreaLeft" fmla="*/ 0 w 3839760"/>
                <a:gd name="textAreaRight" fmla="*/ 3840120 w 3839760"/>
                <a:gd name="textAreaTop" fmla="*/ 0 h 2168280"/>
                <a:gd name="textAreaBottom" fmla="*/ 2168640 h 2168280"/>
              </a:gdLst>
              <a:ahLst/>
              <a:rect l="textAreaLeft" t="textAreaTop" r="textAreaRight" b="textAreaBottom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78" name="Freeform: Shape 39"/>
            <p:cNvSpPr/>
            <p:nvPr/>
          </p:nvSpPr>
          <p:spPr>
            <a:xfrm rot="5400000">
              <a:off x="9213480" y="3872160"/>
              <a:ext cx="3836160" cy="2129760"/>
            </a:xfrm>
            <a:custGeom>
              <a:avLst/>
              <a:gdLst>
                <a:gd name="textAreaLeft" fmla="*/ 0 w 3836160"/>
                <a:gd name="textAreaRight" fmla="*/ 3836520 w 3836160"/>
                <a:gd name="textAreaTop" fmla="*/ 0 h 2129760"/>
                <a:gd name="textAreaBottom" fmla="*/ 2130120 h 2129760"/>
              </a:gdLst>
              <a:ahLst/>
              <a:rect l="textAreaLeft" t="textAreaTop" r="textAreaRight" b="textAreaBottom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79" name="Freeform: Shape 40"/>
            <p:cNvSpPr/>
            <p:nvPr/>
          </p:nvSpPr>
          <p:spPr>
            <a:xfrm rot="5400000">
              <a:off x="9213480" y="3872160"/>
              <a:ext cx="3836160" cy="2129760"/>
            </a:xfrm>
            <a:custGeom>
              <a:avLst/>
              <a:gdLst>
                <a:gd name="textAreaLeft" fmla="*/ 0 w 3836160"/>
                <a:gd name="textAreaRight" fmla="*/ 3836520 w 3836160"/>
                <a:gd name="textAreaTop" fmla="*/ 0 h 2129760"/>
                <a:gd name="textAreaBottom" fmla="*/ 2130120 h 2129760"/>
              </a:gdLst>
              <a:ahLst/>
              <a:rect l="textAreaLeft" t="textAreaTop" r="textAreaRight" b="textAreaBottom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3779280" y="686520"/>
            <a:ext cx="4643280" cy="72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fontScale="77500" lnSpcReduction="19999"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it-IT" sz="4400" strike="noStrike" u="none">
                <a:solidFill>
                  <a:srgbClr val="c7a900"/>
                </a:solidFill>
                <a:uFillTx/>
                <a:latin typeface="Aptos Display"/>
              </a:rPr>
              <a:t>Training</a:t>
            </a:r>
            <a:r>
              <a:rPr b="1" lang="en-US" sz="4400" strike="noStrike" u="none">
                <a:solidFill>
                  <a:srgbClr val="c7a900"/>
                </a:solidFill>
                <a:uFillTx/>
                <a:latin typeface="Aptos Display"/>
              </a:rPr>
              <a:t> del modello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81" name="Elemento grafico 2" descr="Segno di spunta con riempimento a tinta unita"/>
          <p:cNvPicPr/>
          <p:nvPr/>
        </p:nvPicPr>
        <p:blipFill>
          <a:blip r:embed="rId1"/>
          <a:stretch/>
        </p:blipFill>
        <p:spPr>
          <a:xfrm>
            <a:off x="5754240" y="2685960"/>
            <a:ext cx="292320" cy="284400"/>
          </a:xfrm>
          <a:prstGeom prst="rect">
            <a:avLst/>
          </a:prstGeom>
          <a:ln w="0">
            <a:noFill/>
          </a:ln>
        </p:spPr>
      </p:pic>
      <p:sp>
        <p:nvSpPr>
          <p:cNvPr id="282" name="CasellaDiTesto 11"/>
          <p:cNvSpPr/>
          <p:nvPr/>
        </p:nvSpPr>
        <p:spPr>
          <a:xfrm>
            <a:off x="2302200" y="2076120"/>
            <a:ext cx="4341960" cy="40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d9f2d0"/>
              </a:buClr>
              <a:buFont typeface="Arial"/>
              <a:buChar char="•"/>
            </a:pPr>
            <a:r>
              <a:rPr b="0" lang="it-IT" sz="1800" strike="noStrike" u="none">
                <a:solidFill>
                  <a:srgbClr val="d9f2d0"/>
                </a:solidFill>
                <a:uFillTx/>
                <a:latin typeface="Aptos"/>
                <a:ea typeface="DejaVu Sans"/>
              </a:rPr>
              <a:t>Un modello AI non può essere allenato con dei file Word o co PDF, ma solo con testo codificato</a:t>
            </a:r>
            <a:br>
              <a:rPr sz="1800"/>
            </a:br>
            <a:r>
              <a:rPr b="0" lang="it-IT" sz="1800" strike="noStrike" u="none">
                <a:solidFill>
                  <a:srgbClr val="d1d1d1"/>
                </a:solidFill>
                <a:uFillTx/>
                <a:latin typeface="Aptos"/>
                <a:ea typeface="DejaVu Sans"/>
              </a:rPr>
              <a:t> 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ptos"/>
                <a:ea typeface="DejaVu Sans"/>
              </a:rPr>
              <a:t>Non può ricevere troppe informazioni per limiti tecnici </a:t>
            </a:r>
            <a:br>
              <a:rPr sz="1800"/>
            </a:br>
            <a:r>
              <a:rPr b="0" lang="it-IT" sz="1400" strike="noStrike" u="none">
                <a:solidFill>
                  <a:srgbClr val="000000"/>
                </a:solidFill>
                <a:uFillTx/>
                <a:latin typeface="Aptos"/>
                <a:ea typeface="DejaVu Sans"/>
              </a:rPr>
              <a:t>(max ~40mila sillabe/richiesta, risposta compresa)</a:t>
            </a:r>
            <a:br>
              <a:rPr sz="1800"/>
            </a:br>
            <a:r>
              <a:rPr b="0" lang="it-IT" sz="1800" strike="noStrike" u="none">
                <a:solidFill>
                  <a:srgbClr val="d1d1d1"/>
                </a:solidFill>
                <a:uFillTx/>
                <a:latin typeface="Aptos"/>
                <a:ea typeface="DejaVu Sans"/>
              </a:rPr>
              <a:t> 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d1d1d1"/>
              </a:buClr>
              <a:buFont typeface="Arial"/>
              <a:buChar char="•"/>
            </a:pPr>
            <a:r>
              <a:rPr b="0" lang="it-IT" sz="1800" strike="noStrike" u="none">
                <a:solidFill>
                  <a:srgbClr val="d1d1d1"/>
                </a:solidFill>
                <a:uFillTx/>
                <a:latin typeface="Aptos"/>
                <a:ea typeface="DejaVu Sans"/>
              </a:rPr>
              <a:t>Non può rispondere con un file Word o un PDF ben formattati (limiti tecnici + costi), ma performa bene solo con testo.</a:t>
            </a:r>
            <a:br>
              <a:rPr sz="1800"/>
            </a:br>
            <a:r>
              <a:rPr b="0" lang="it-IT" sz="1800" strike="noStrike" u="none">
                <a:solidFill>
                  <a:srgbClr val="000000"/>
                </a:solidFill>
                <a:uFillTx/>
                <a:latin typeface="Aptos"/>
                <a:ea typeface="DejaVu Sans"/>
              </a:rPr>
              <a:t> 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3" name="Rettangolo con angoli arrotondati 12"/>
          <p:cNvSpPr/>
          <p:nvPr/>
        </p:nvSpPr>
        <p:spPr>
          <a:xfrm>
            <a:off x="7199280" y="2180160"/>
            <a:ext cx="3821760" cy="329184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84" name="Elemento grafico 3" descr="Lampadina"/>
          <p:cNvPicPr/>
          <p:nvPr/>
        </p:nvPicPr>
        <p:blipFill>
          <a:blip r:embed="rId2"/>
          <a:stretch/>
        </p:blipFill>
        <p:spPr>
          <a:xfrm>
            <a:off x="7373880" y="2143080"/>
            <a:ext cx="1513080" cy="1576800"/>
          </a:xfrm>
          <a:prstGeom prst="rect">
            <a:avLst/>
          </a:prstGeom>
          <a:ln w="0">
            <a:noFill/>
          </a:ln>
        </p:spPr>
      </p:pic>
      <p:sp>
        <p:nvSpPr>
          <p:cNvPr id="285" name="CasellaDiTesto 6"/>
          <p:cNvSpPr/>
          <p:nvPr/>
        </p:nvSpPr>
        <p:spPr>
          <a:xfrm>
            <a:off x="9004320" y="2834280"/>
            <a:ext cx="1503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i="1" lang="it-IT" sz="1800" strike="noStrike" u="none">
                <a:solidFill>
                  <a:srgbClr val="c00000"/>
                </a:solidFill>
                <a:uFillTx/>
                <a:latin typeface="Aptos"/>
                <a:ea typeface="DejaVu Sans"/>
              </a:rPr>
              <a:t>SmartFilter!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6" name="CasellaDiTesto 13"/>
          <p:cNvSpPr/>
          <p:nvPr/>
        </p:nvSpPr>
        <p:spPr>
          <a:xfrm>
            <a:off x="7361280" y="3718800"/>
            <a:ext cx="34009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it-IT" sz="1400" strike="noStrike" u="none">
                <a:solidFill>
                  <a:srgbClr val="000000"/>
                </a:solidFill>
                <a:uFillTx/>
                <a:latin typeface="Aptos"/>
                <a:ea typeface="DejaVu Sans"/>
              </a:rPr>
              <a:t>Per ogni paziente, filtra la conoscenza relativa a pazienti simili a lui/lei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7" name="Freccia a destra 14"/>
          <p:cNvSpPr/>
          <p:nvPr/>
        </p:nvSpPr>
        <p:spPr>
          <a:xfrm rot="5400000">
            <a:off x="8987760" y="4466160"/>
            <a:ext cx="179640" cy="1875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88" name="CasellaDiTesto 15"/>
          <p:cNvSpPr/>
          <p:nvPr/>
        </p:nvSpPr>
        <p:spPr>
          <a:xfrm>
            <a:off x="7377120" y="4807800"/>
            <a:ext cx="34009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it-IT" sz="1400" strike="noStrike" u="none">
                <a:solidFill>
                  <a:srgbClr val="000000"/>
                </a:solidFill>
                <a:uFillTx/>
                <a:latin typeface="Aptos"/>
                <a:ea typeface="DejaVu Sans"/>
              </a:rPr>
              <a:t>Richieste ridotte da </a:t>
            </a:r>
            <a:r>
              <a:rPr b="1" lang="it-IT" sz="1400" strike="noStrike" u="none">
                <a:solidFill>
                  <a:srgbClr val="000000"/>
                </a:solidFill>
                <a:uFillTx/>
                <a:latin typeface="Aptos"/>
                <a:ea typeface="DejaVu Sans"/>
              </a:rPr>
              <a:t>128mila </a:t>
            </a:r>
            <a:r>
              <a:rPr b="0" lang="it-IT" sz="1400" strike="noStrike" u="none">
                <a:solidFill>
                  <a:srgbClr val="000000"/>
                </a:solidFill>
                <a:uFillTx/>
                <a:latin typeface="Aptos"/>
                <a:ea typeface="DejaVu Sans"/>
              </a:rPr>
              <a:t>sillabe a </a:t>
            </a:r>
            <a:r>
              <a:rPr b="1" lang="it-IT" sz="1400" strike="noStrike" u="none">
                <a:solidFill>
                  <a:srgbClr val="000000"/>
                </a:solidFill>
                <a:uFillTx/>
                <a:latin typeface="Aptos"/>
                <a:ea typeface="DejaVu Sans"/>
              </a:rPr>
              <a:t>18mila</a:t>
            </a:r>
            <a:r>
              <a:rPr b="0" lang="it-IT" sz="1400" strike="noStrike" u="none">
                <a:solidFill>
                  <a:srgbClr val="000000"/>
                </a:solidFill>
                <a:uFillTx/>
                <a:latin typeface="Aptos"/>
                <a:ea typeface="DejaVu Sans"/>
              </a:rPr>
              <a:t>, </a:t>
            </a:r>
            <a:r>
              <a:rPr b="1" lang="it-IT" sz="1400" strike="noStrike" u="none">
                <a:solidFill>
                  <a:srgbClr val="c9211e"/>
                </a:solidFill>
                <a:uFillTx/>
                <a:latin typeface="Aptos"/>
                <a:ea typeface="DejaVu Sans"/>
              </a:rPr>
              <a:t>senza invio di dati sensibili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8" dur="indefinite" restart="never" nodeType="tmRoot">
          <p:childTnLst>
            <p:seq>
              <p:cTn id="59" dur="indefinite" nodeType="mainSeq">
                <p:childTnLst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4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67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Rectangle 26"/>
          <p:cNvSpPr/>
          <p:nvPr/>
        </p:nvSpPr>
        <p:spPr>
          <a:xfrm>
            <a:off x="0" y="0"/>
            <a:ext cx="12188880" cy="68551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0" name="Rectangle 28"/>
          <p:cNvSpPr/>
          <p:nvPr/>
        </p:nvSpPr>
        <p:spPr>
          <a:xfrm>
            <a:off x="360" y="0"/>
            <a:ext cx="12188880" cy="6855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291" name="Group 30"/>
          <p:cNvGrpSpPr/>
          <p:nvPr/>
        </p:nvGrpSpPr>
        <p:grpSpPr>
          <a:xfrm>
            <a:off x="0" y="0"/>
            <a:ext cx="3342960" cy="2508120"/>
            <a:chOff x="0" y="0"/>
            <a:chExt cx="3342960" cy="2508120"/>
          </a:xfrm>
        </p:grpSpPr>
        <p:sp>
          <p:nvSpPr>
            <p:cNvPr id="292" name="Freeform: Shape 31"/>
            <p:cNvSpPr/>
            <p:nvPr/>
          </p:nvSpPr>
          <p:spPr>
            <a:xfrm>
              <a:off x="360" y="0"/>
              <a:ext cx="3327840" cy="2313720"/>
            </a:xfrm>
            <a:custGeom>
              <a:avLst/>
              <a:gdLst>
                <a:gd name="textAreaLeft" fmla="*/ 0 w 3327840"/>
                <a:gd name="textAreaRight" fmla="*/ 3328200 w 3327840"/>
                <a:gd name="textAreaTop" fmla="*/ 0 h 2313720"/>
                <a:gd name="textAreaBottom" fmla="*/ 2314080 h 2313720"/>
              </a:gdLst>
              <a:ahLst/>
              <a:rect l="textAreaLeft" t="textAreaTop" r="textAreaRight" b="textAreaBottom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93" name="Freeform: Shape 32"/>
            <p:cNvSpPr/>
            <p:nvPr/>
          </p:nvSpPr>
          <p:spPr>
            <a:xfrm>
              <a:off x="360" y="0"/>
              <a:ext cx="3327840" cy="2313720"/>
            </a:xfrm>
            <a:custGeom>
              <a:avLst/>
              <a:gdLst>
                <a:gd name="textAreaLeft" fmla="*/ 0 w 3327840"/>
                <a:gd name="textAreaRight" fmla="*/ 3328200 w 3327840"/>
                <a:gd name="textAreaTop" fmla="*/ 0 h 2313720"/>
                <a:gd name="textAreaBottom" fmla="*/ 2314080 h 2313720"/>
              </a:gdLst>
              <a:ahLst/>
              <a:rect l="textAreaLeft" t="textAreaTop" r="textAreaRight" b="textAreaBottom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94" name="Freeform: Shape 33"/>
            <p:cNvSpPr/>
            <p:nvPr/>
          </p:nvSpPr>
          <p:spPr>
            <a:xfrm>
              <a:off x="0" y="0"/>
              <a:ext cx="3328560" cy="2333160"/>
            </a:xfrm>
            <a:custGeom>
              <a:avLst/>
              <a:gdLst>
                <a:gd name="textAreaLeft" fmla="*/ 0 w 3328560"/>
                <a:gd name="textAreaRight" fmla="*/ 3328920 w 3328560"/>
                <a:gd name="textAreaTop" fmla="*/ 0 h 2333160"/>
                <a:gd name="textAreaBottom" fmla="*/ 2333520 h 2333160"/>
              </a:gdLst>
              <a:ahLst/>
              <a:rect l="textAreaLeft" t="textAreaTop" r="textAreaRight" b="textAreaBottom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95" name="Freeform: Shape 34"/>
            <p:cNvSpPr/>
            <p:nvPr/>
          </p:nvSpPr>
          <p:spPr>
            <a:xfrm>
              <a:off x="360" y="0"/>
              <a:ext cx="3342600" cy="2508120"/>
            </a:xfrm>
            <a:custGeom>
              <a:avLst/>
              <a:gdLst>
                <a:gd name="textAreaLeft" fmla="*/ 0 w 3342600"/>
                <a:gd name="textAreaRight" fmla="*/ 3342960 w 3342600"/>
                <a:gd name="textAreaTop" fmla="*/ 0 h 2508120"/>
                <a:gd name="textAreaBottom" fmla="*/ 2508480 h 2508120"/>
              </a:gdLst>
              <a:ahLst/>
              <a:rect l="textAreaLeft" t="textAreaTop" r="textAreaRight" b="textAreaBottom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grpSp>
        <p:nvGrpSpPr>
          <p:cNvPr id="296" name="Group 36"/>
          <p:cNvGrpSpPr/>
          <p:nvPr/>
        </p:nvGrpSpPr>
        <p:grpSpPr>
          <a:xfrm>
            <a:off x="9830520" y="2979360"/>
            <a:ext cx="2365920" cy="3875760"/>
            <a:chOff x="9830520" y="2979360"/>
            <a:chExt cx="2365920" cy="3875760"/>
          </a:xfrm>
        </p:grpSpPr>
        <p:sp>
          <p:nvSpPr>
            <p:cNvPr id="297" name="Freeform: Shape 37"/>
            <p:cNvSpPr/>
            <p:nvPr/>
          </p:nvSpPr>
          <p:spPr>
            <a:xfrm rot="5400000">
              <a:off x="9075600" y="3734280"/>
              <a:ext cx="3875760" cy="2365920"/>
            </a:xfrm>
            <a:custGeom>
              <a:avLst/>
              <a:gdLst>
                <a:gd name="textAreaLeft" fmla="*/ 0 w 3875760"/>
                <a:gd name="textAreaRight" fmla="*/ 3876120 w 3875760"/>
                <a:gd name="textAreaTop" fmla="*/ 0 h 2365920"/>
                <a:gd name="textAreaBottom" fmla="*/ 2366280 h 2365920"/>
              </a:gdLst>
              <a:ahLst/>
              <a:rect l="textAreaLeft" t="textAreaTop" r="textAreaRight" b="textAreaBottom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98" name="Freeform: Shape 38"/>
            <p:cNvSpPr/>
            <p:nvPr/>
          </p:nvSpPr>
          <p:spPr>
            <a:xfrm rot="5400000">
              <a:off x="9192240" y="3850920"/>
              <a:ext cx="3839760" cy="2168280"/>
            </a:xfrm>
            <a:custGeom>
              <a:avLst/>
              <a:gdLst>
                <a:gd name="textAreaLeft" fmla="*/ 0 w 3839760"/>
                <a:gd name="textAreaRight" fmla="*/ 3840120 w 3839760"/>
                <a:gd name="textAreaTop" fmla="*/ 0 h 2168280"/>
                <a:gd name="textAreaBottom" fmla="*/ 2168640 h 2168280"/>
              </a:gdLst>
              <a:ahLst/>
              <a:rect l="textAreaLeft" t="textAreaTop" r="textAreaRight" b="textAreaBottom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299" name="Freeform: Shape 39"/>
            <p:cNvSpPr/>
            <p:nvPr/>
          </p:nvSpPr>
          <p:spPr>
            <a:xfrm rot="5400000">
              <a:off x="9213480" y="3872160"/>
              <a:ext cx="3836160" cy="2129760"/>
            </a:xfrm>
            <a:custGeom>
              <a:avLst/>
              <a:gdLst>
                <a:gd name="textAreaLeft" fmla="*/ 0 w 3836160"/>
                <a:gd name="textAreaRight" fmla="*/ 3836520 w 3836160"/>
                <a:gd name="textAreaTop" fmla="*/ 0 h 2129760"/>
                <a:gd name="textAreaBottom" fmla="*/ 2130120 h 2129760"/>
              </a:gdLst>
              <a:ahLst/>
              <a:rect l="textAreaLeft" t="textAreaTop" r="textAreaRight" b="textAreaBottom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00" name="Freeform: Shape 40"/>
            <p:cNvSpPr/>
            <p:nvPr/>
          </p:nvSpPr>
          <p:spPr>
            <a:xfrm rot="5400000">
              <a:off x="9213480" y="3872160"/>
              <a:ext cx="3836160" cy="2129760"/>
            </a:xfrm>
            <a:custGeom>
              <a:avLst/>
              <a:gdLst>
                <a:gd name="textAreaLeft" fmla="*/ 0 w 3836160"/>
                <a:gd name="textAreaRight" fmla="*/ 3836520 w 3836160"/>
                <a:gd name="textAreaTop" fmla="*/ 0 h 2129760"/>
                <a:gd name="textAreaBottom" fmla="*/ 2130120 h 2129760"/>
              </a:gdLst>
              <a:ahLst/>
              <a:rect l="textAreaLeft" t="textAreaTop" r="textAreaRight" b="textAreaBottom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3779280" y="686520"/>
            <a:ext cx="4643280" cy="72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fontScale="77500" lnSpcReduction="19999"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it-IT" sz="4400" strike="noStrike" u="none">
                <a:solidFill>
                  <a:srgbClr val="c7a900"/>
                </a:solidFill>
                <a:uFillTx/>
                <a:latin typeface="Aptos Display"/>
              </a:rPr>
              <a:t>Training</a:t>
            </a:r>
            <a:r>
              <a:rPr b="1" lang="en-US" sz="4400" strike="noStrike" u="none">
                <a:solidFill>
                  <a:srgbClr val="c7a900"/>
                </a:solidFill>
                <a:uFillTx/>
                <a:latin typeface="Aptos Display"/>
              </a:rPr>
              <a:t> del modello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02" name="Elemento grafico 2" descr="Segno di spunta con riempimento a tinta unita"/>
          <p:cNvPicPr/>
          <p:nvPr/>
        </p:nvPicPr>
        <p:blipFill>
          <a:blip r:embed="rId1"/>
          <a:stretch/>
        </p:blipFill>
        <p:spPr>
          <a:xfrm>
            <a:off x="5754240" y="2685960"/>
            <a:ext cx="292320" cy="284400"/>
          </a:xfrm>
          <a:prstGeom prst="rect">
            <a:avLst/>
          </a:prstGeom>
          <a:ln w="0">
            <a:noFill/>
          </a:ln>
        </p:spPr>
      </p:pic>
      <p:sp>
        <p:nvSpPr>
          <p:cNvPr id="303" name="CasellaDiTesto 11"/>
          <p:cNvSpPr/>
          <p:nvPr/>
        </p:nvSpPr>
        <p:spPr>
          <a:xfrm>
            <a:off x="2302200" y="2084040"/>
            <a:ext cx="4349880" cy="408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d9f2d0"/>
              </a:buClr>
              <a:buFont typeface="Arial"/>
              <a:buChar char="•"/>
            </a:pPr>
            <a:r>
              <a:rPr b="0" lang="it-IT" sz="1800" strike="noStrike" u="none">
                <a:solidFill>
                  <a:srgbClr val="d9f2d0"/>
                </a:solidFill>
                <a:uFillTx/>
                <a:latin typeface="Aptos"/>
                <a:ea typeface="DejaVu Sans"/>
              </a:rPr>
              <a:t>Un modello AI non può essere allenato con dei file Word o co PDF, ma solo con testo codificato</a:t>
            </a:r>
            <a:br>
              <a:rPr sz="1800"/>
            </a:br>
            <a:r>
              <a:rPr b="0" lang="it-IT" sz="1800" strike="noStrike" u="none">
                <a:solidFill>
                  <a:srgbClr val="d1d1d1"/>
                </a:solidFill>
                <a:uFillTx/>
                <a:latin typeface="Aptos"/>
                <a:ea typeface="DejaVu Sans"/>
              </a:rPr>
              <a:t> 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d9f2d0"/>
              </a:buClr>
              <a:buFont typeface="Arial"/>
              <a:buChar char="•"/>
            </a:pPr>
            <a:r>
              <a:rPr b="0" lang="it-IT" sz="1800" strike="noStrike" u="none">
                <a:solidFill>
                  <a:srgbClr val="d9f2d0"/>
                </a:solidFill>
                <a:uFillTx/>
                <a:latin typeface="Aptos"/>
                <a:ea typeface="DejaVu Sans"/>
              </a:rPr>
              <a:t>Non può ricevere troppe informazioni per limiti tecnici </a:t>
            </a:r>
            <a:br>
              <a:rPr sz="1800"/>
            </a:br>
            <a:r>
              <a:rPr b="0" lang="it-IT" sz="1400" strike="noStrike" u="none">
                <a:solidFill>
                  <a:srgbClr val="d9f2d0"/>
                </a:solidFill>
                <a:uFillTx/>
                <a:latin typeface="Aptos"/>
                <a:ea typeface="DejaVu Sans"/>
              </a:rPr>
              <a:t>(max ~40mila sillabe/richiesta, risposta compresa)</a:t>
            </a:r>
            <a:br>
              <a:rPr sz="1800"/>
            </a:br>
            <a:r>
              <a:rPr b="0" lang="it-IT" sz="1800" strike="noStrike" u="none">
                <a:solidFill>
                  <a:srgbClr val="d9f2d0"/>
                </a:solidFill>
                <a:uFillTx/>
                <a:latin typeface="Aptos"/>
                <a:ea typeface="DejaVu Sans"/>
              </a:rPr>
              <a:t> 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it-IT" sz="1800" strike="noStrike" u="none">
                <a:solidFill>
                  <a:srgbClr val="000000"/>
                </a:solidFill>
                <a:uFillTx/>
                <a:latin typeface="Aptos"/>
                <a:ea typeface="DejaVu Sans"/>
              </a:rPr>
              <a:t>Non può rispondere con un file Word o un PDF ben formattati (limiti tecnici + costi), ma performa bene solo con testo.</a:t>
            </a:r>
            <a:br>
              <a:rPr sz="1800"/>
            </a:br>
            <a:r>
              <a:rPr b="0" lang="it-IT" sz="1800" strike="noStrike" u="none">
                <a:solidFill>
                  <a:srgbClr val="000000"/>
                </a:solidFill>
                <a:uFillTx/>
                <a:latin typeface="Aptos"/>
                <a:ea typeface="DejaVu Sans"/>
              </a:rPr>
              <a:t> 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4" name="Rettangolo con angoli arrotondati 12"/>
          <p:cNvSpPr/>
          <p:nvPr/>
        </p:nvSpPr>
        <p:spPr>
          <a:xfrm>
            <a:off x="7130880" y="4151520"/>
            <a:ext cx="3869280" cy="178956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05" name="Elemento grafico 4" descr="Segno di spunta con riempimento a tinta unita"/>
          <p:cNvPicPr/>
          <p:nvPr/>
        </p:nvPicPr>
        <p:blipFill>
          <a:blip r:embed="rId2"/>
          <a:stretch/>
        </p:blipFill>
        <p:spPr>
          <a:xfrm>
            <a:off x="6009120" y="3751200"/>
            <a:ext cx="292320" cy="284400"/>
          </a:xfrm>
          <a:prstGeom prst="rect">
            <a:avLst/>
          </a:prstGeom>
          <a:ln w="0">
            <a:noFill/>
          </a:ln>
        </p:spPr>
      </p:pic>
      <p:sp>
        <p:nvSpPr>
          <p:cNvPr id="306" name="CasellaDiTesto 7"/>
          <p:cNvSpPr/>
          <p:nvPr/>
        </p:nvSpPr>
        <p:spPr>
          <a:xfrm>
            <a:off x="7337520" y="4338360"/>
            <a:ext cx="3400920" cy="130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it-IT" sz="1600" strike="noStrike" u="none">
                <a:solidFill>
                  <a:srgbClr val="000000"/>
                </a:solidFill>
                <a:uFillTx/>
                <a:latin typeface="Aptos"/>
                <a:ea typeface="DejaVu Sans"/>
              </a:rPr>
              <a:t>Creato un formattatore "intelligente" (</a:t>
            </a:r>
            <a:r>
              <a:rPr b="1" i="1" lang="it-IT" sz="1600" strike="noStrike" u="none">
                <a:solidFill>
                  <a:srgbClr val="ffaa00"/>
                </a:solidFill>
                <a:uFillTx/>
                <a:latin typeface="Aptos"/>
                <a:ea typeface="DejaVu Sans"/>
              </a:rPr>
              <a:t>SmartFormat</a:t>
            </a:r>
            <a:r>
              <a:rPr b="0" lang="it-IT" sz="1600" strike="noStrike" u="none">
                <a:solidFill>
                  <a:srgbClr val="000000"/>
                </a:solidFill>
                <a:uFillTx/>
                <a:latin typeface="Aptos"/>
                <a:ea typeface="DejaVu Sans"/>
              </a:rPr>
              <a:t>) in Python, che riempie un template Word con il </a:t>
            </a:r>
            <a:r>
              <a:rPr b="1" lang="it-IT" sz="1600" strike="noStrike" u="none">
                <a:solidFill>
                  <a:srgbClr val="000000"/>
                </a:solidFill>
                <a:uFillTx/>
                <a:latin typeface="Aptos"/>
                <a:ea typeface="DejaVu Sans"/>
              </a:rPr>
              <a:t>testo semplice</a:t>
            </a:r>
            <a:r>
              <a:rPr b="0" lang="it-IT" sz="1600" strike="noStrike" u="none">
                <a:solidFill>
                  <a:srgbClr val="000000"/>
                </a:solidFill>
                <a:uFillTx/>
                <a:latin typeface="Aptos"/>
                <a:ea typeface="DejaVu Sans"/>
              </a:rPr>
              <a:t> generato da AI</a:t>
            </a:r>
            <a:endParaRPr b="0" lang="en-US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Rectangle 26"/>
          <p:cNvSpPr/>
          <p:nvPr/>
        </p:nvSpPr>
        <p:spPr>
          <a:xfrm>
            <a:off x="0" y="0"/>
            <a:ext cx="12188880" cy="68551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8" name="Rectangle 28"/>
          <p:cNvSpPr/>
          <p:nvPr/>
        </p:nvSpPr>
        <p:spPr>
          <a:xfrm>
            <a:off x="360" y="0"/>
            <a:ext cx="12188880" cy="6855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09" name="Group 30"/>
          <p:cNvGrpSpPr/>
          <p:nvPr/>
        </p:nvGrpSpPr>
        <p:grpSpPr>
          <a:xfrm>
            <a:off x="0" y="0"/>
            <a:ext cx="3342960" cy="2508120"/>
            <a:chOff x="0" y="0"/>
            <a:chExt cx="3342960" cy="2508120"/>
          </a:xfrm>
        </p:grpSpPr>
        <p:sp>
          <p:nvSpPr>
            <p:cNvPr id="310" name="Freeform: Shape 31"/>
            <p:cNvSpPr/>
            <p:nvPr/>
          </p:nvSpPr>
          <p:spPr>
            <a:xfrm>
              <a:off x="360" y="0"/>
              <a:ext cx="3327840" cy="2313720"/>
            </a:xfrm>
            <a:custGeom>
              <a:avLst/>
              <a:gdLst>
                <a:gd name="textAreaLeft" fmla="*/ 0 w 3327840"/>
                <a:gd name="textAreaRight" fmla="*/ 3328200 w 3327840"/>
                <a:gd name="textAreaTop" fmla="*/ 0 h 2313720"/>
                <a:gd name="textAreaBottom" fmla="*/ 2314080 h 2313720"/>
              </a:gdLst>
              <a:ahLst/>
              <a:rect l="textAreaLeft" t="textAreaTop" r="textAreaRight" b="textAreaBottom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11" name="Freeform: Shape 32"/>
            <p:cNvSpPr/>
            <p:nvPr/>
          </p:nvSpPr>
          <p:spPr>
            <a:xfrm>
              <a:off x="360" y="0"/>
              <a:ext cx="3327840" cy="2313720"/>
            </a:xfrm>
            <a:custGeom>
              <a:avLst/>
              <a:gdLst>
                <a:gd name="textAreaLeft" fmla="*/ 0 w 3327840"/>
                <a:gd name="textAreaRight" fmla="*/ 3328200 w 3327840"/>
                <a:gd name="textAreaTop" fmla="*/ 0 h 2313720"/>
                <a:gd name="textAreaBottom" fmla="*/ 2314080 h 2313720"/>
              </a:gdLst>
              <a:ahLst/>
              <a:rect l="textAreaLeft" t="textAreaTop" r="textAreaRight" b="textAreaBottom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12" name="Freeform: Shape 33"/>
            <p:cNvSpPr/>
            <p:nvPr/>
          </p:nvSpPr>
          <p:spPr>
            <a:xfrm>
              <a:off x="0" y="0"/>
              <a:ext cx="3328560" cy="2333160"/>
            </a:xfrm>
            <a:custGeom>
              <a:avLst/>
              <a:gdLst>
                <a:gd name="textAreaLeft" fmla="*/ 0 w 3328560"/>
                <a:gd name="textAreaRight" fmla="*/ 3328920 w 3328560"/>
                <a:gd name="textAreaTop" fmla="*/ 0 h 2333160"/>
                <a:gd name="textAreaBottom" fmla="*/ 2333520 h 2333160"/>
              </a:gdLst>
              <a:ahLst/>
              <a:rect l="textAreaLeft" t="textAreaTop" r="textAreaRight" b="textAreaBottom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13" name="Freeform: Shape 34"/>
            <p:cNvSpPr/>
            <p:nvPr/>
          </p:nvSpPr>
          <p:spPr>
            <a:xfrm>
              <a:off x="360" y="0"/>
              <a:ext cx="3342600" cy="2508120"/>
            </a:xfrm>
            <a:custGeom>
              <a:avLst/>
              <a:gdLst>
                <a:gd name="textAreaLeft" fmla="*/ 0 w 3342600"/>
                <a:gd name="textAreaRight" fmla="*/ 3342960 w 3342600"/>
                <a:gd name="textAreaTop" fmla="*/ 0 h 2508120"/>
                <a:gd name="textAreaBottom" fmla="*/ 2508480 h 2508120"/>
              </a:gdLst>
              <a:ahLst/>
              <a:rect l="textAreaLeft" t="textAreaTop" r="textAreaRight" b="textAreaBottom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grpSp>
        <p:nvGrpSpPr>
          <p:cNvPr id="314" name="Group 36"/>
          <p:cNvGrpSpPr/>
          <p:nvPr/>
        </p:nvGrpSpPr>
        <p:grpSpPr>
          <a:xfrm>
            <a:off x="9830520" y="2979360"/>
            <a:ext cx="2365920" cy="3875760"/>
            <a:chOff x="9830520" y="2979360"/>
            <a:chExt cx="2365920" cy="3875760"/>
          </a:xfrm>
        </p:grpSpPr>
        <p:sp>
          <p:nvSpPr>
            <p:cNvPr id="315" name="Freeform: Shape 37"/>
            <p:cNvSpPr/>
            <p:nvPr/>
          </p:nvSpPr>
          <p:spPr>
            <a:xfrm rot="5400000">
              <a:off x="9075600" y="3734280"/>
              <a:ext cx="3875760" cy="2365920"/>
            </a:xfrm>
            <a:custGeom>
              <a:avLst/>
              <a:gdLst>
                <a:gd name="textAreaLeft" fmla="*/ 0 w 3875760"/>
                <a:gd name="textAreaRight" fmla="*/ 3876120 w 3875760"/>
                <a:gd name="textAreaTop" fmla="*/ 0 h 2365920"/>
                <a:gd name="textAreaBottom" fmla="*/ 2366280 h 2365920"/>
              </a:gdLst>
              <a:ahLst/>
              <a:rect l="textAreaLeft" t="textAreaTop" r="textAreaRight" b="textAreaBottom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16" name="Freeform: Shape 38"/>
            <p:cNvSpPr/>
            <p:nvPr/>
          </p:nvSpPr>
          <p:spPr>
            <a:xfrm rot="5400000">
              <a:off x="9192240" y="3850920"/>
              <a:ext cx="3839760" cy="2168280"/>
            </a:xfrm>
            <a:custGeom>
              <a:avLst/>
              <a:gdLst>
                <a:gd name="textAreaLeft" fmla="*/ 0 w 3839760"/>
                <a:gd name="textAreaRight" fmla="*/ 3840120 w 3839760"/>
                <a:gd name="textAreaTop" fmla="*/ 0 h 2168280"/>
                <a:gd name="textAreaBottom" fmla="*/ 2168640 h 2168280"/>
              </a:gdLst>
              <a:ahLst/>
              <a:rect l="textAreaLeft" t="textAreaTop" r="textAreaRight" b="textAreaBottom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17" name="Freeform: Shape 39"/>
            <p:cNvSpPr/>
            <p:nvPr/>
          </p:nvSpPr>
          <p:spPr>
            <a:xfrm rot="5400000">
              <a:off x="9213480" y="3872160"/>
              <a:ext cx="3836160" cy="2129760"/>
            </a:xfrm>
            <a:custGeom>
              <a:avLst/>
              <a:gdLst>
                <a:gd name="textAreaLeft" fmla="*/ 0 w 3836160"/>
                <a:gd name="textAreaRight" fmla="*/ 3836520 w 3836160"/>
                <a:gd name="textAreaTop" fmla="*/ 0 h 2129760"/>
                <a:gd name="textAreaBottom" fmla="*/ 2130120 h 2129760"/>
              </a:gdLst>
              <a:ahLst/>
              <a:rect l="textAreaLeft" t="textAreaTop" r="textAreaRight" b="textAreaBottom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18" name="Freeform: Shape 40"/>
            <p:cNvSpPr/>
            <p:nvPr/>
          </p:nvSpPr>
          <p:spPr>
            <a:xfrm rot="5400000">
              <a:off x="9213480" y="3872160"/>
              <a:ext cx="3836160" cy="2129760"/>
            </a:xfrm>
            <a:custGeom>
              <a:avLst/>
              <a:gdLst>
                <a:gd name="textAreaLeft" fmla="*/ 0 w 3836160"/>
                <a:gd name="textAreaRight" fmla="*/ 3836520 w 3836160"/>
                <a:gd name="textAreaTop" fmla="*/ 0 h 2129760"/>
                <a:gd name="textAreaBottom" fmla="*/ 2130120 h 2129760"/>
              </a:gdLst>
              <a:ahLst/>
              <a:rect l="textAreaLeft" t="textAreaTop" r="textAreaRight" b="textAreaBottom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3779280" y="686520"/>
            <a:ext cx="4643280" cy="72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it-IT" sz="4400" strike="noStrike" u="none">
                <a:solidFill>
                  <a:srgbClr val="3b7f23"/>
                </a:solidFill>
                <a:uFillTx/>
                <a:latin typeface="Aptos Display"/>
              </a:rPr>
              <a:t>GeneFood AI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20" name="Immagine 1" descr="Immagine che contiene testo, schermata, Carattere, numero&#10;&#10;Descrizione generata automaticamente"/>
          <p:cNvPicPr/>
          <p:nvPr/>
        </p:nvPicPr>
        <p:blipFill>
          <a:blip r:embed="rId1"/>
          <a:stretch/>
        </p:blipFill>
        <p:spPr>
          <a:xfrm>
            <a:off x="1932840" y="1601640"/>
            <a:ext cx="5410080" cy="507240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sp>
        <p:nvSpPr>
          <p:cNvPr id="321" name="Rettangolo con angoli arrotondati 5"/>
          <p:cNvSpPr/>
          <p:nvPr/>
        </p:nvSpPr>
        <p:spPr>
          <a:xfrm>
            <a:off x="7772400" y="2176920"/>
            <a:ext cx="3883680" cy="39337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3a7d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2" name="CasellaDiTesto 8"/>
          <p:cNvSpPr/>
          <p:nvPr/>
        </p:nvSpPr>
        <p:spPr>
          <a:xfrm>
            <a:off x="7863840" y="2179080"/>
            <a:ext cx="3612240" cy="365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it-IT" sz="1800" strike="noStrike" u="none">
                <a:solidFill>
                  <a:srgbClr val="000000"/>
                </a:solidFill>
                <a:uFillTx/>
                <a:latin typeface="Aptos"/>
                <a:ea typeface="DejaVu Sans"/>
              </a:rPr>
              <a:t>La "creatività" del modello  </a:t>
            </a:r>
            <a:r>
              <a:rPr b="1" lang="it-IT" sz="1800" strike="noStrike" u="none">
                <a:solidFill>
                  <a:srgbClr val="c00000"/>
                </a:solidFill>
                <a:uFillTx/>
                <a:latin typeface="Aptos"/>
                <a:ea typeface="DejaVu Sans"/>
              </a:rPr>
              <a:t>è regolabile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it-IT" sz="1800" strike="noStrike" u="none">
                <a:solidFill>
                  <a:srgbClr val="000000"/>
                </a:solidFill>
                <a:uFillTx/>
                <a:latin typeface="Aptos"/>
                <a:ea typeface="DejaVu Sans"/>
              </a:rPr>
              <a:t>Il modello si </a:t>
            </a:r>
            <a:r>
              <a:rPr b="1" lang="it-IT" sz="1800" strike="noStrike" u="none">
                <a:solidFill>
                  <a:srgbClr val="c00000"/>
                </a:solidFill>
                <a:uFillTx/>
                <a:latin typeface="Aptos"/>
                <a:ea typeface="DejaVu Sans"/>
              </a:rPr>
              <a:t>evolverà automaticamente</a:t>
            </a:r>
            <a:r>
              <a:rPr b="1" lang="it-IT" sz="1800" strike="noStrike" u="none">
                <a:solidFill>
                  <a:srgbClr val="000000"/>
                </a:solidFill>
                <a:uFillTx/>
                <a:latin typeface="Aptos"/>
                <a:ea typeface="DejaVu Sans"/>
              </a:rPr>
              <a:t> ad ogni rilascio di aggiornamenti</a:t>
            </a:r>
            <a:br>
              <a:rPr sz="1800"/>
            </a:br>
            <a:r>
              <a:rPr b="1" lang="it-IT" sz="1800" strike="noStrike" u="none">
                <a:solidFill>
                  <a:srgbClr val="000000"/>
                </a:solidFill>
                <a:uFillTx/>
                <a:latin typeface="Aptos"/>
                <a:ea typeface="DejaVu Sans"/>
              </a:rPr>
              <a:t> 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it-IT" sz="1800" strike="noStrike" u="none">
                <a:solidFill>
                  <a:srgbClr val="000000"/>
                </a:solidFill>
                <a:uFillTx/>
                <a:latin typeface="Aptos"/>
                <a:ea typeface="DejaVu Sans"/>
              </a:rPr>
              <a:t>Cambiare modello (Google Gemini, OpenAI...) sarà facile se necessario</a:t>
            </a:r>
            <a:br>
              <a:rPr sz="1800"/>
            </a:br>
            <a:r>
              <a:rPr b="1" lang="it-IT" sz="1800" strike="noStrike" u="none">
                <a:solidFill>
                  <a:srgbClr val="000000"/>
                </a:solidFill>
                <a:uFillTx/>
                <a:latin typeface="Aptos"/>
                <a:ea typeface="DejaVu Sans"/>
              </a:rPr>
              <a:t> 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it-IT" sz="1800" strike="noStrike" u="none">
                <a:solidFill>
                  <a:srgbClr val="000000"/>
                </a:solidFill>
                <a:uFillTx/>
                <a:latin typeface="Aptos"/>
                <a:ea typeface="DejaVu Sans"/>
              </a:rPr>
              <a:t>La </a:t>
            </a:r>
            <a:r>
              <a:rPr b="1" lang="it-IT" sz="1800" strike="noStrike" u="none">
                <a:solidFill>
                  <a:srgbClr val="c9211e"/>
                </a:solidFill>
                <a:uFillTx/>
                <a:latin typeface="Aptos"/>
                <a:ea typeface="DejaVu Sans"/>
              </a:rPr>
              <a:t>privacy</a:t>
            </a:r>
            <a:r>
              <a:rPr b="1" lang="it-IT" sz="1800" strike="noStrike" u="none">
                <a:solidFill>
                  <a:srgbClr val="000000"/>
                </a:solidFill>
                <a:uFillTx/>
                <a:latin typeface="Aptos"/>
                <a:ea typeface="DejaVu Sans"/>
              </a:rPr>
              <a:t> e’ garantita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8" dur="indefinite" restart="never" nodeType="tmRoot">
          <p:childTnLst>
            <p:seq>
              <p:cTn id="69" dur="indefinite" nodeType="mainSeq">
                <p:childTnLst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4" dur="500"/>
                                        <p:tgtEl>
                                          <p:spTgt spid="3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9" dur="500"/>
                                        <p:tgtEl>
                                          <p:spTgt spid="3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4" dur="500"/>
                                        <p:tgtEl>
                                          <p:spTgt spid="3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89" dur="500"/>
                                        <p:tgtEl>
                                          <p:spTgt spid="3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Rectangle 1"/>
          <p:cNvSpPr/>
          <p:nvPr/>
        </p:nvSpPr>
        <p:spPr>
          <a:xfrm>
            <a:off x="0" y="0"/>
            <a:ext cx="12188880" cy="68551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4" name="Rectangle 2"/>
          <p:cNvSpPr/>
          <p:nvPr/>
        </p:nvSpPr>
        <p:spPr>
          <a:xfrm>
            <a:off x="360" y="0"/>
            <a:ext cx="12188880" cy="6855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25" name="Group 1"/>
          <p:cNvGrpSpPr/>
          <p:nvPr/>
        </p:nvGrpSpPr>
        <p:grpSpPr>
          <a:xfrm>
            <a:off x="0" y="0"/>
            <a:ext cx="3342960" cy="2508120"/>
            <a:chOff x="0" y="0"/>
            <a:chExt cx="3342960" cy="2508120"/>
          </a:xfrm>
        </p:grpSpPr>
        <p:sp>
          <p:nvSpPr>
            <p:cNvPr id="326" name="Freeform: Shape 1"/>
            <p:cNvSpPr/>
            <p:nvPr/>
          </p:nvSpPr>
          <p:spPr>
            <a:xfrm>
              <a:off x="360" y="0"/>
              <a:ext cx="3327840" cy="2313720"/>
            </a:xfrm>
            <a:custGeom>
              <a:avLst/>
              <a:gdLst>
                <a:gd name="textAreaLeft" fmla="*/ 0 w 3327840"/>
                <a:gd name="textAreaRight" fmla="*/ 3328200 w 3327840"/>
                <a:gd name="textAreaTop" fmla="*/ 0 h 2313720"/>
                <a:gd name="textAreaBottom" fmla="*/ 2314080 h 2313720"/>
              </a:gdLst>
              <a:ahLst/>
              <a:rect l="textAreaLeft" t="textAreaTop" r="textAreaRight" b="textAreaBottom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27" name="Freeform: Shape 2"/>
            <p:cNvSpPr/>
            <p:nvPr/>
          </p:nvSpPr>
          <p:spPr>
            <a:xfrm>
              <a:off x="360" y="0"/>
              <a:ext cx="3327840" cy="2313720"/>
            </a:xfrm>
            <a:custGeom>
              <a:avLst/>
              <a:gdLst>
                <a:gd name="textAreaLeft" fmla="*/ 0 w 3327840"/>
                <a:gd name="textAreaRight" fmla="*/ 3328200 w 3327840"/>
                <a:gd name="textAreaTop" fmla="*/ 0 h 2313720"/>
                <a:gd name="textAreaBottom" fmla="*/ 2314080 h 2313720"/>
              </a:gdLst>
              <a:ahLst/>
              <a:rect l="textAreaLeft" t="textAreaTop" r="textAreaRight" b="textAreaBottom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28" name="Freeform: Shape 3"/>
            <p:cNvSpPr/>
            <p:nvPr/>
          </p:nvSpPr>
          <p:spPr>
            <a:xfrm>
              <a:off x="0" y="0"/>
              <a:ext cx="3328560" cy="2333160"/>
            </a:xfrm>
            <a:custGeom>
              <a:avLst/>
              <a:gdLst>
                <a:gd name="textAreaLeft" fmla="*/ 0 w 3328560"/>
                <a:gd name="textAreaRight" fmla="*/ 3328920 w 3328560"/>
                <a:gd name="textAreaTop" fmla="*/ 0 h 2333160"/>
                <a:gd name="textAreaBottom" fmla="*/ 2333520 h 2333160"/>
              </a:gdLst>
              <a:ahLst/>
              <a:rect l="textAreaLeft" t="textAreaTop" r="textAreaRight" b="textAreaBottom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29" name="Freeform: Shape 4"/>
            <p:cNvSpPr/>
            <p:nvPr/>
          </p:nvSpPr>
          <p:spPr>
            <a:xfrm>
              <a:off x="360" y="0"/>
              <a:ext cx="3342600" cy="2508120"/>
            </a:xfrm>
            <a:custGeom>
              <a:avLst/>
              <a:gdLst>
                <a:gd name="textAreaLeft" fmla="*/ 0 w 3342600"/>
                <a:gd name="textAreaRight" fmla="*/ 3342960 w 3342600"/>
                <a:gd name="textAreaTop" fmla="*/ 0 h 2508120"/>
                <a:gd name="textAreaBottom" fmla="*/ 2508480 h 2508120"/>
              </a:gdLst>
              <a:ahLst/>
              <a:rect l="textAreaLeft" t="textAreaTop" r="textAreaRight" b="textAreaBottom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grpSp>
        <p:nvGrpSpPr>
          <p:cNvPr id="330" name="Group 2"/>
          <p:cNvGrpSpPr/>
          <p:nvPr/>
        </p:nvGrpSpPr>
        <p:grpSpPr>
          <a:xfrm>
            <a:off x="9830520" y="2979360"/>
            <a:ext cx="2365920" cy="3875760"/>
            <a:chOff x="9830520" y="2979360"/>
            <a:chExt cx="2365920" cy="3875760"/>
          </a:xfrm>
        </p:grpSpPr>
        <p:sp>
          <p:nvSpPr>
            <p:cNvPr id="331" name="Freeform: Shape 5"/>
            <p:cNvSpPr/>
            <p:nvPr/>
          </p:nvSpPr>
          <p:spPr>
            <a:xfrm rot="5400000">
              <a:off x="9075600" y="3734280"/>
              <a:ext cx="3875760" cy="2365920"/>
            </a:xfrm>
            <a:custGeom>
              <a:avLst/>
              <a:gdLst>
                <a:gd name="textAreaLeft" fmla="*/ 0 w 3875760"/>
                <a:gd name="textAreaRight" fmla="*/ 3876120 w 3875760"/>
                <a:gd name="textAreaTop" fmla="*/ 0 h 2365920"/>
                <a:gd name="textAreaBottom" fmla="*/ 2366280 h 2365920"/>
              </a:gdLst>
              <a:ahLst/>
              <a:rect l="textAreaLeft" t="textAreaTop" r="textAreaRight" b="textAreaBottom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32" name="Freeform: Shape 6"/>
            <p:cNvSpPr/>
            <p:nvPr/>
          </p:nvSpPr>
          <p:spPr>
            <a:xfrm rot="5400000">
              <a:off x="9192240" y="3850920"/>
              <a:ext cx="3839760" cy="2168280"/>
            </a:xfrm>
            <a:custGeom>
              <a:avLst/>
              <a:gdLst>
                <a:gd name="textAreaLeft" fmla="*/ 0 w 3839760"/>
                <a:gd name="textAreaRight" fmla="*/ 3840120 w 3839760"/>
                <a:gd name="textAreaTop" fmla="*/ 0 h 2168280"/>
                <a:gd name="textAreaBottom" fmla="*/ 2168640 h 2168280"/>
              </a:gdLst>
              <a:ahLst/>
              <a:rect l="textAreaLeft" t="textAreaTop" r="textAreaRight" b="textAreaBottom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33" name="Freeform: Shape 7"/>
            <p:cNvSpPr/>
            <p:nvPr/>
          </p:nvSpPr>
          <p:spPr>
            <a:xfrm rot="5400000">
              <a:off x="9213480" y="3872160"/>
              <a:ext cx="3836160" cy="2129760"/>
            </a:xfrm>
            <a:custGeom>
              <a:avLst/>
              <a:gdLst>
                <a:gd name="textAreaLeft" fmla="*/ 0 w 3836160"/>
                <a:gd name="textAreaRight" fmla="*/ 3836520 w 3836160"/>
                <a:gd name="textAreaTop" fmla="*/ 0 h 2129760"/>
                <a:gd name="textAreaBottom" fmla="*/ 2130120 h 2129760"/>
              </a:gdLst>
              <a:ahLst/>
              <a:rect l="textAreaLeft" t="textAreaTop" r="textAreaRight" b="textAreaBottom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34" name="Freeform: Shape 8"/>
            <p:cNvSpPr/>
            <p:nvPr/>
          </p:nvSpPr>
          <p:spPr>
            <a:xfrm rot="5400000">
              <a:off x="9213480" y="3872160"/>
              <a:ext cx="3836160" cy="2129760"/>
            </a:xfrm>
            <a:custGeom>
              <a:avLst/>
              <a:gdLst>
                <a:gd name="textAreaLeft" fmla="*/ 0 w 3836160"/>
                <a:gd name="textAreaRight" fmla="*/ 3836520 w 3836160"/>
                <a:gd name="textAreaTop" fmla="*/ 0 h 2129760"/>
                <a:gd name="textAreaBottom" fmla="*/ 2130120 h 2129760"/>
              </a:gdLst>
              <a:ahLst/>
              <a:rect l="textAreaLeft" t="textAreaTop" r="textAreaRight" b="textAreaBottom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3779280" y="686520"/>
            <a:ext cx="4643280" cy="72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it-IT" sz="4400" strike="noStrike" u="none">
                <a:solidFill>
                  <a:srgbClr val="3b7f23"/>
                </a:solidFill>
                <a:uFillTx/>
                <a:latin typeface="Aptos Display"/>
              </a:rPr>
              <a:t>GeneFood AI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6" name="Rettangolo con angoli arrotondati 1"/>
          <p:cNvSpPr/>
          <p:nvPr/>
        </p:nvSpPr>
        <p:spPr>
          <a:xfrm>
            <a:off x="7772400" y="2176920"/>
            <a:ext cx="3883680" cy="39337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3a7d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7" name="CasellaDiTesto 1"/>
          <p:cNvSpPr/>
          <p:nvPr/>
        </p:nvSpPr>
        <p:spPr>
          <a:xfrm>
            <a:off x="7863840" y="2179080"/>
            <a:ext cx="3612240" cy="365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it-IT" sz="1800" strike="noStrike" u="none">
                <a:solidFill>
                  <a:srgbClr val="000000"/>
                </a:solidFill>
                <a:uFillTx/>
                <a:latin typeface="Aptos"/>
                <a:ea typeface="DejaVu Sans"/>
              </a:rPr>
              <a:t>La "creatività" del modello  </a:t>
            </a:r>
            <a:r>
              <a:rPr b="1" lang="it-IT" sz="1800" strike="noStrike" u="none">
                <a:solidFill>
                  <a:srgbClr val="c00000"/>
                </a:solidFill>
                <a:uFillTx/>
                <a:latin typeface="Aptos"/>
                <a:ea typeface="DejaVu Sans"/>
              </a:rPr>
              <a:t>è regolabile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it-IT" sz="1800" strike="noStrike" u="none">
                <a:solidFill>
                  <a:srgbClr val="000000"/>
                </a:solidFill>
                <a:uFillTx/>
                <a:latin typeface="Aptos"/>
                <a:ea typeface="DejaVu Sans"/>
              </a:rPr>
              <a:t>Il modello si </a:t>
            </a:r>
            <a:r>
              <a:rPr b="1" lang="it-IT" sz="1800" strike="noStrike" u="none">
                <a:solidFill>
                  <a:srgbClr val="c00000"/>
                </a:solidFill>
                <a:uFillTx/>
                <a:latin typeface="Aptos"/>
                <a:ea typeface="DejaVu Sans"/>
              </a:rPr>
              <a:t>evolverà automaticamente</a:t>
            </a:r>
            <a:r>
              <a:rPr b="1" lang="it-IT" sz="1800" strike="noStrike" u="none">
                <a:solidFill>
                  <a:srgbClr val="000000"/>
                </a:solidFill>
                <a:uFillTx/>
                <a:latin typeface="Aptos"/>
                <a:ea typeface="DejaVu Sans"/>
              </a:rPr>
              <a:t> ad ogni rilascio di aggiornamenti</a:t>
            </a:r>
            <a:br>
              <a:rPr sz="1800"/>
            </a:br>
            <a:r>
              <a:rPr b="1" lang="it-IT" sz="1800" strike="noStrike" u="none">
                <a:solidFill>
                  <a:srgbClr val="000000"/>
                </a:solidFill>
                <a:uFillTx/>
                <a:latin typeface="Aptos"/>
                <a:ea typeface="DejaVu Sans"/>
              </a:rPr>
              <a:t> 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it-IT" sz="1800" strike="noStrike" u="none">
                <a:solidFill>
                  <a:srgbClr val="000000"/>
                </a:solidFill>
                <a:uFillTx/>
                <a:latin typeface="Aptos"/>
                <a:ea typeface="DejaVu Sans"/>
              </a:rPr>
              <a:t>Cambiare modello (Google Gemini, OpenAI...) sarà facile se necessario</a:t>
            </a:r>
            <a:br>
              <a:rPr sz="1800"/>
            </a:br>
            <a:r>
              <a:rPr b="1" lang="it-IT" sz="1800" strike="noStrike" u="none">
                <a:solidFill>
                  <a:srgbClr val="000000"/>
                </a:solidFill>
                <a:uFillTx/>
                <a:latin typeface="Aptos"/>
                <a:ea typeface="DejaVu Sans"/>
              </a:rPr>
              <a:t> 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1" lang="it-IT" sz="1800" strike="noStrike" u="none">
                <a:solidFill>
                  <a:srgbClr val="000000"/>
                </a:solidFill>
                <a:uFillTx/>
                <a:latin typeface="Aptos"/>
                <a:ea typeface="DejaVu Sans"/>
              </a:rPr>
              <a:t>La </a:t>
            </a:r>
            <a:r>
              <a:rPr b="1" lang="it-IT" sz="1800" strike="noStrike" u="none">
                <a:solidFill>
                  <a:srgbClr val="c9211e"/>
                </a:solidFill>
                <a:uFillTx/>
                <a:latin typeface="Aptos"/>
                <a:ea typeface="DejaVu Sans"/>
              </a:rPr>
              <a:t>privacy</a:t>
            </a:r>
            <a:r>
              <a:rPr b="1" lang="it-IT" sz="1800" strike="noStrike" u="none">
                <a:solidFill>
                  <a:srgbClr val="000000"/>
                </a:solidFill>
                <a:uFillTx/>
                <a:latin typeface="Aptos"/>
                <a:ea typeface="DejaVu Sans"/>
              </a:rPr>
              <a:t> e’ garantita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38" name="" descr=""/>
          <p:cNvPicPr/>
          <p:nvPr/>
        </p:nvPicPr>
        <p:blipFill>
          <a:blip r:embed="rId1"/>
          <a:stretch/>
        </p:blipFill>
        <p:spPr>
          <a:xfrm>
            <a:off x="457200" y="2145600"/>
            <a:ext cx="6965640" cy="3917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Rectangle 26"/>
          <p:cNvSpPr/>
          <p:nvPr/>
        </p:nvSpPr>
        <p:spPr>
          <a:xfrm>
            <a:off x="0" y="0"/>
            <a:ext cx="12188880" cy="68551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0" name="Rectangle 28"/>
          <p:cNvSpPr/>
          <p:nvPr/>
        </p:nvSpPr>
        <p:spPr>
          <a:xfrm>
            <a:off x="360" y="0"/>
            <a:ext cx="12188880" cy="6855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341" name="Group 30"/>
          <p:cNvGrpSpPr/>
          <p:nvPr/>
        </p:nvGrpSpPr>
        <p:grpSpPr>
          <a:xfrm>
            <a:off x="0" y="0"/>
            <a:ext cx="3342960" cy="2508120"/>
            <a:chOff x="0" y="0"/>
            <a:chExt cx="3342960" cy="2508120"/>
          </a:xfrm>
        </p:grpSpPr>
        <p:sp>
          <p:nvSpPr>
            <p:cNvPr id="342" name="Freeform: Shape 31"/>
            <p:cNvSpPr/>
            <p:nvPr/>
          </p:nvSpPr>
          <p:spPr>
            <a:xfrm>
              <a:off x="360" y="0"/>
              <a:ext cx="3327840" cy="2313720"/>
            </a:xfrm>
            <a:custGeom>
              <a:avLst/>
              <a:gdLst>
                <a:gd name="textAreaLeft" fmla="*/ 0 w 3327840"/>
                <a:gd name="textAreaRight" fmla="*/ 3328200 w 3327840"/>
                <a:gd name="textAreaTop" fmla="*/ 0 h 2313720"/>
                <a:gd name="textAreaBottom" fmla="*/ 2314080 h 2313720"/>
              </a:gdLst>
              <a:ahLst/>
              <a:rect l="textAreaLeft" t="textAreaTop" r="textAreaRight" b="textAreaBottom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43" name="Freeform: Shape 32"/>
            <p:cNvSpPr/>
            <p:nvPr/>
          </p:nvSpPr>
          <p:spPr>
            <a:xfrm>
              <a:off x="360" y="0"/>
              <a:ext cx="3327840" cy="2313720"/>
            </a:xfrm>
            <a:custGeom>
              <a:avLst/>
              <a:gdLst>
                <a:gd name="textAreaLeft" fmla="*/ 0 w 3327840"/>
                <a:gd name="textAreaRight" fmla="*/ 3328200 w 3327840"/>
                <a:gd name="textAreaTop" fmla="*/ 0 h 2313720"/>
                <a:gd name="textAreaBottom" fmla="*/ 2314080 h 2313720"/>
              </a:gdLst>
              <a:ahLst/>
              <a:rect l="textAreaLeft" t="textAreaTop" r="textAreaRight" b="textAreaBottom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44" name="Freeform: Shape 33"/>
            <p:cNvSpPr/>
            <p:nvPr/>
          </p:nvSpPr>
          <p:spPr>
            <a:xfrm>
              <a:off x="0" y="0"/>
              <a:ext cx="3328560" cy="2333160"/>
            </a:xfrm>
            <a:custGeom>
              <a:avLst/>
              <a:gdLst>
                <a:gd name="textAreaLeft" fmla="*/ 0 w 3328560"/>
                <a:gd name="textAreaRight" fmla="*/ 3328920 w 3328560"/>
                <a:gd name="textAreaTop" fmla="*/ 0 h 2333160"/>
                <a:gd name="textAreaBottom" fmla="*/ 2333520 h 2333160"/>
              </a:gdLst>
              <a:ahLst/>
              <a:rect l="textAreaLeft" t="textAreaTop" r="textAreaRight" b="textAreaBottom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45" name="Freeform: Shape 34"/>
            <p:cNvSpPr/>
            <p:nvPr/>
          </p:nvSpPr>
          <p:spPr>
            <a:xfrm>
              <a:off x="360" y="0"/>
              <a:ext cx="3342600" cy="2508120"/>
            </a:xfrm>
            <a:custGeom>
              <a:avLst/>
              <a:gdLst>
                <a:gd name="textAreaLeft" fmla="*/ 0 w 3342600"/>
                <a:gd name="textAreaRight" fmla="*/ 3342960 w 3342600"/>
                <a:gd name="textAreaTop" fmla="*/ 0 h 2508120"/>
                <a:gd name="textAreaBottom" fmla="*/ 2508480 h 2508120"/>
              </a:gdLst>
              <a:ahLst/>
              <a:rect l="textAreaLeft" t="textAreaTop" r="textAreaRight" b="textAreaBottom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grpSp>
        <p:nvGrpSpPr>
          <p:cNvPr id="346" name="Group 36"/>
          <p:cNvGrpSpPr/>
          <p:nvPr/>
        </p:nvGrpSpPr>
        <p:grpSpPr>
          <a:xfrm>
            <a:off x="9830520" y="2979360"/>
            <a:ext cx="2365920" cy="3875760"/>
            <a:chOff x="9830520" y="2979360"/>
            <a:chExt cx="2365920" cy="3875760"/>
          </a:xfrm>
        </p:grpSpPr>
        <p:sp>
          <p:nvSpPr>
            <p:cNvPr id="347" name="Freeform: Shape 37"/>
            <p:cNvSpPr/>
            <p:nvPr/>
          </p:nvSpPr>
          <p:spPr>
            <a:xfrm rot="5400000">
              <a:off x="9075600" y="3734280"/>
              <a:ext cx="3875760" cy="2365920"/>
            </a:xfrm>
            <a:custGeom>
              <a:avLst/>
              <a:gdLst>
                <a:gd name="textAreaLeft" fmla="*/ 0 w 3875760"/>
                <a:gd name="textAreaRight" fmla="*/ 3876120 w 3875760"/>
                <a:gd name="textAreaTop" fmla="*/ 0 h 2365920"/>
                <a:gd name="textAreaBottom" fmla="*/ 2366280 h 2365920"/>
              </a:gdLst>
              <a:ahLst/>
              <a:rect l="textAreaLeft" t="textAreaTop" r="textAreaRight" b="textAreaBottom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48" name="Freeform: Shape 38"/>
            <p:cNvSpPr/>
            <p:nvPr/>
          </p:nvSpPr>
          <p:spPr>
            <a:xfrm rot="5400000">
              <a:off x="9192240" y="3850920"/>
              <a:ext cx="3839760" cy="2168280"/>
            </a:xfrm>
            <a:custGeom>
              <a:avLst/>
              <a:gdLst>
                <a:gd name="textAreaLeft" fmla="*/ 0 w 3839760"/>
                <a:gd name="textAreaRight" fmla="*/ 3840120 w 3839760"/>
                <a:gd name="textAreaTop" fmla="*/ 0 h 2168280"/>
                <a:gd name="textAreaBottom" fmla="*/ 2168640 h 2168280"/>
              </a:gdLst>
              <a:ahLst/>
              <a:rect l="textAreaLeft" t="textAreaTop" r="textAreaRight" b="textAreaBottom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49" name="Freeform: Shape 39"/>
            <p:cNvSpPr/>
            <p:nvPr/>
          </p:nvSpPr>
          <p:spPr>
            <a:xfrm rot="5400000">
              <a:off x="9213480" y="3872160"/>
              <a:ext cx="3836160" cy="2129760"/>
            </a:xfrm>
            <a:custGeom>
              <a:avLst/>
              <a:gdLst>
                <a:gd name="textAreaLeft" fmla="*/ 0 w 3836160"/>
                <a:gd name="textAreaRight" fmla="*/ 3836520 w 3836160"/>
                <a:gd name="textAreaTop" fmla="*/ 0 h 2129760"/>
                <a:gd name="textAreaBottom" fmla="*/ 2130120 h 2129760"/>
              </a:gdLst>
              <a:ahLst/>
              <a:rect l="textAreaLeft" t="textAreaTop" r="textAreaRight" b="textAreaBottom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350" name="Freeform: Shape 40"/>
            <p:cNvSpPr/>
            <p:nvPr/>
          </p:nvSpPr>
          <p:spPr>
            <a:xfrm rot="5400000">
              <a:off x="9213480" y="3872160"/>
              <a:ext cx="3836160" cy="2129760"/>
            </a:xfrm>
            <a:custGeom>
              <a:avLst/>
              <a:gdLst>
                <a:gd name="textAreaLeft" fmla="*/ 0 w 3836160"/>
                <a:gd name="textAreaRight" fmla="*/ 3836520 w 3836160"/>
                <a:gd name="textAreaTop" fmla="*/ 0 h 2129760"/>
                <a:gd name="textAreaBottom" fmla="*/ 2130120 h 2129760"/>
              </a:gdLst>
              <a:ahLst/>
              <a:rect l="textAreaLeft" t="textAreaTop" r="textAreaRight" b="textAreaBottom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 rotWithShape="0">
              <a:gsLst>
                <a:gs pos="0">
                  <a:srgbClr val="4ea72e">
                    <a:alpha val="10000"/>
                  </a:srgbClr>
                </a:gs>
                <a:gs pos="100000">
                  <a:srgbClr val="156082">
                    <a:alpha val="10000"/>
                  </a:srgbClr>
                </a:gs>
              </a:gsLst>
              <a:lin ang="120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trike="noStrike" u="none">
                <a:solidFill>
                  <a:srgbClr val="000000"/>
                </a:solidFill>
                <a:uFillTx/>
                <a:latin typeface="Arial"/>
              </a:endParaRPr>
            </a:p>
          </p:txBody>
        </p:sp>
      </p:grpSp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3779280" y="686520"/>
            <a:ext cx="4643280" cy="72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 algn="ctr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it-IT" sz="4400" strike="noStrike" u="none">
                <a:solidFill>
                  <a:srgbClr val="3b7f23"/>
                </a:solidFill>
                <a:uFillTx/>
                <a:latin typeface="Aptos Display"/>
              </a:rPr>
              <a:t>GeneFood AI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352" name="Immagine 2" descr="Immagine che contiene testo, schermata, diagramma, Carattere&#10;&#10;Descrizione generata automaticamente"/>
          <p:cNvPicPr/>
          <p:nvPr/>
        </p:nvPicPr>
        <p:blipFill>
          <a:blip r:embed="rId1"/>
          <a:srcRect l="13875" t="0" r="17464" b="-225"/>
          <a:stretch/>
        </p:blipFill>
        <p:spPr>
          <a:xfrm>
            <a:off x="1762200" y="1905840"/>
            <a:ext cx="4553280" cy="3543840"/>
          </a:xfrm>
          <a:prstGeom prst="rect">
            <a:avLst/>
          </a:prstGeom>
          <a:ln w="0">
            <a:solidFill>
              <a:srgbClr val="000000"/>
            </a:solidFill>
          </a:ln>
        </p:spPr>
      </p:pic>
      <p:sp>
        <p:nvSpPr>
          <p:cNvPr id="353" name="Rettangolo con angoli arrotondati 5"/>
          <p:cNvSpPr/>
          <p:nvPr/>
        </p:nvSpPr>
        <p:spPr>
          <a:xfrm>
            <a:off x="6746040" y="2544480"/>
            <a:ext cx="3531960" cy="223776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3a7d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4" name="CasellaDiTesto 3"/>
          <p:cNvSpPr/>
          <p:nvPr/>
        </p:nvSpPr>
        <p:spPr>
          <a:xfrm>
            <a:off x="6757920" y="2871720"/>
            <a:ext cx="34009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i="1" lang="it-IT" sz="1800" strike="noStrike" u="none">
                <a:solidFill>
                  <a:srgbClr val="000000"/>
                </a:solidFill>
                <a:uFillTx/>
                <a:latin typeface="Aptos"/>
                <a:ea typeface="DejaVu Sans"/>
              </a:rPr>
              <a:t>SmartFilter </a:t>
            </a:r>
            <a:r>
              <a:rPr b="0" lang="it-IT" sz="1800" strike="noStrike" u="none">
                <a:solidFill>
                  <a:srgbClr val="000000"/>
                </a:solidFill>
                <a:uFillTx/>
                <a:latin typeface="Aptos"/>
                <a:ea typeface="DejaVu Sans"/>
              </a:rPr>
              <a:t>+ </a:t>
            </a:r>
            <a:r>
              <a:rPr b="1" i="1" lang="it-IT" sz="1800" strike="noStrike" u="none">
                <a:solidFill>
                  <a:srgbClr val="000000"/>
                </a:solidFill>
                <a:uFillTx/>
                <a:latin typeface="Aptos"/>
                <a:ea typeface="DejaVu Sans"/>
              </a:rPr>
              <a:t>SmartFormat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it-IT" sz="1800" strike="noStrike" u="none">
                <a:solidFill>
                  <a:srgbClr val="000000"/>
                </a:solidFill>
                <a:uFillTx/>
                <a:latin typeface="Aptos"/>
                <a:ea typeface="DejaVu Sans"/>
              </a:rPr>
              <a:t>=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1" lang="it-IT" sz="1800" strike="noStrike" u="none">
                <a:solidFill>
                  <a:srgbClr val="000000"/>
                </a:solidFill>
                <a:uFillTx/>
                <a:latin typeface="Aptos"/>
                <a:ea typeface="DejaVu Sans"/>
              </a:rPr>
              <a:t>Costo per report:</a:t>
            </a: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5" name="CasellaDiTesto 4"/>
          <p:cNvSpPr/>
          <p:nvPr/>
        </p:nvSpPr>
        <p:spPr>
          <a:xfrm>
            <a:off x="7144920" y="3864240"/>
            <a:ext cx="247788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i="1" lang="it-IT" sz="4400" strike="noStrike" u="none">
                <a:solidFill>
                  <a:srgbClr val="c00000"/>
                </a:solidFill>
                <a:uFillTx/>
                <a:latin typeface="Aptos"/>
                <a:ea typeface="DejaVu Sans"/>
              </a:rPr>
              <a:t>~12</a:t>
            </a:r>
            <a:r>
              <a:rPr b="1" i="1" lang="it-IT" sz="4400" strike="noStrike" u="none">
                <a:solidFill>
                  <a:srgbClr val="c00000"/>
                </a:solidFill>
                <a:uFillTx/>
                <a:latin typeface="Aptos"/>
                <a:ea typeface="Aptos"/>
              </a:rPr>
              <a:t>¢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0" dur="indefinite" restart="never" nodeType="tmRoot">
          <p:childTnLst>
            <p:seq>
              <p:cTn id="91" dur="indefinite" nodeType="mainSeq">
                <p:childTnLst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6" dur="500"/>
                                        <p:tgtEl>
                                          <p:spTgt spid="3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99" dur="500"/>
                                        <p:tgtEl>
                                          <p:spTgt spid="3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2" dur="500"/>
                                        <p:tgtEl>
                                          <p:spTgt spid="3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nodeType="with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05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10" dur="2000"/>
                                        <p:tgtEl>
                                          <p:spTgt spid="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LibreOffice/24.8.0.3$Linux_X86_64 LibreOffice_project/0bdf1299c94fe897b119f97f3c613e9dca6be583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2012-07-30T23:18:30Z</dcterms:created>
  <dc:creator/>
  <dc:description/>
  <dc:language>en-US</dc:language>
  <cp:lastModifiedBy/>
  <dcterms:modified xsi:type="dcterms:W3CDTF">2024-09-06T13:47:39Z</dcterms:modified>
  <cp:revision>513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d9e4d68-54d0-40a5-8c9a-85a36c87352c_ActionId">
    <vt:lpwstr>73a20ec0-59f8-4e86-a592-eed1a3848404</vt:lpwstr>
  </property>
  <property fmtid="{D5CDD505-2E9C-101B-9397-08002B2CF9AE}" pid="3" name="MSIP_Label_bd9e4d68-54d0-40a5-8c9a-85a36c87352c_ContentBits">
    <vt:lpwstr>0</vt:lpwstr>
  </property>
  <property fmtid="{D5CDD505-2E9C-101B-9397-08002B2CF9AE}" pid="4" name="MSIP_Label_bd9e4d68-54d0-40a5-8c9a-85a36c87352c_Enabled">
    <vt:lpwstr>true</vt:lpwstr>
  </property>
  <property fmtid="{D5CDD505-2E9C-101B-9397-08002B2CF9AE}" pid="5" name="MSIP_Label_bd9e4d68-54d0-40a5-8c9a-85a36c87352c_Method">
    <vt:lpwstr>Standard</vt:lpwstr>
  </property>
  <property fmtid="{D5CDD505-2E9C-101B-9397-08002B2CF9AE}" pid="6" name="MSIP_Label_bd9e4d68-54d0-40a5-8c9a-85a36c87352c_Name">
    <vt:lpwstr>Unclassified</vt:lpwstr>
  </property>
  <property fmtid="{D5CDD505-2E9C-101B-9397-08002B2CF9AE}" pid="7" name="MSIP_Label_bd9e4d68-54d0-40a5-8c9a-85a36c87352c_SetDate">
    <vt:lpwstr>2024-09-05T09:01:22Z</vt:lpwstr>
  </property>
  <property fmtid="{D5CDD505-2E9C-101B-9397-08002B2CF9AE}" pid="8" name="MSIP_Label_bd9e4d68-54d0-40a5-8c9a-85a36c87352c_SiteId">
    <vt:lpwstr>388728e1-bbd0-4378-98dc-f8682e644300</vt:lpwstr>
  </property>
  <property fmtid="{D5CDD505-2E9C-101B-9397-08002B2CF9AE}" pid="9" name="PresentationFormat">
    <vt:lpwstr>Widescreen</vt:lpwstr>
  </property>
  <property fmtid="{D5CDD505-2E9C-101B-9397-08002B2CF9AE}" pid="10" name="Slides">
    <vt:i4>9</vt:i4>
  </property>
</Properties>
</file>